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et started" id="{ee58b6d6-9318-f93e-23e4-265d05b4c26a}">
          <p14:sldIdLst>
            <p14:sldId id="256"/>
            <p14:sldId id="257"/>
            <p14:sldId id="258"/>
            <p14:sldId id="259"/>
          </p14:sldIdLst>
        </p14:section>
        <p14:section name="Use the Desk" id="{73e61dd1-9a5e-ef2c-bef3-be7fbeea2761}">
          <p14:sldIdLst>
            <p14:sldId id="260"/>
            <p14:sldId id="261"/>
            <p14:sldId id="262"/>
            <p14:sldId id="263"/>
            <p14:sldId id="264"/>
            <p14:sldId id="265"/>
            <p14:sldId id="266"/>
            <p14:sldId id="267"/>
            <p14:sldId id="268"/>
          </p14:sldIdLst>
        </p14:section>
        <p14:section name="Reference" id="{198d8221-8719-5dd0-5ff2-45d926b81a19}">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guide walks through the Answer Desk: audit how AI assistants describe a business, correct what holds it back, publish facts for agents, and report outcomes. The screenshots are from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and a loop. The audit tells you where you stand, the fix plan tells you what to do, publishing makes the facts readable by agents, and the re-audit proves whether it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edition is what is on GitHub Pages. It is the easiest way to try the product. The server edition adds real Claude answers and real endpoints that other agents can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clear about this with any audience. The simulated assistants are deterministic and respond to the same signals research links to being recommended, so the fix-to-score loop is demonstrable. But it is a model, not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the audience: index across the top, the headline score, the carousel of real answers, the generated summary, and the score history. Everything below this front page is numbered with section marks, 01 to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sheet is section 01. Open a mark with a blue ring to read an answer that named the business but gave the wrong hours. Marks labelled SIM come from simulated assistants.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02. This is the competitive view: who the assistants name when they do not name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03. Items are ranked by likely effect. Fixed items are struck through in blue and stamped Corrected. Fixes show up only after a new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04. The console really calls the endpoints. In the static edition they run in the browser; in the server edition they are real HTTP endpoints other agents can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demo, Sidra moves from 9% to 56% after the three fixes. That uplift is from simulated assistants and shows the method, not a measured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District Report is for the program sponsor. It compares only assistants present in both audits, and flags results that rest on simulated assistants.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plus File a business control at the right end of the index. Accurate hours matter: the audit flags any answer that states different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is designed separately for each screen size rather than just shrunk.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part that needs a terminal. Everything else in the guide works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demo script for a board or a pilot business. The story: a business invisible to AI, one visible wrong fact, three fixes, an agent that now answers correctly, and a gate that flips.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limits so expectations are right. The headline limit: simulated assistants show the method, not measured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5486400" cy="2103120"/>
          </a:xfrm>
          <a:prstGeom prst="rect">
            <a:avLst/>
          </a:prstGeom>
          <a:noFill/>
          <a:ln/>
        </p:spPr>
        <p:txBody>
          <a:bodyPr wrap="square" rtlCol="0"/>
          <a:lstStyle>
            <a:lvl1pPr algn="l" indent="0" marL="0">
              <a:buNone/>
              <a:defRPr lang="en-US" sz="5600" b="1" dirty="0">
                <a:solidFill>
                  <a:schemeClr val="bg1"/>
                </a:solidFill>
              </a:defRPr>
            </a:lvl1pPr>
          </a:lstStyle>
          <a:p>
            <a:pPr algn="l" indent="0" marL="0">
              <a:buNone/>
            </a:pPr>
            <a:endParaRPr lang="en-US" sz="5600" dirty="0"/>
          </a:p>
        </p:txBody>
      </p:sp>
      <p:sp>
        <p:nvSpPr>
          <p:cNvPr id="3" name="Text 0"/>
          <p:cNvSpPr/>
          <p:nvPr>
            <p:ph idx="101" type="body" hasCustomPrompt="1"/>
          </p:nvPr>
        </p:nvSpPr>
        <p:spPr>
          <a:xfrm>
            <a:off x="548640" y="4023360"/>
            <a:ext cx="5303520" cy="1188720"/>
          </a:xfrm>
          <a:prstGeom prst="rect">
            <a:avLst/>
          </a:prstGeom>
          <a:noFill/>
          <a:ln/>
        </p:spPr>
        <p:txBody>
          <a:bodyPr wrap="square" rtlCol="0"/>
          <a:lstStyle>
            <a:lvl1pPr algn="l" indent="0" marL="0">
              <a:buNone/>
              <a:defRPr lang="en-US" sz="2000" dirty="0">
                <a:solidFill>
                  <a:schemeClr val="accent4"/>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Vibe Money  ·  The Answer Desk user guide</a:t>
            </a:r>
            <a:endParaRPr lang="en-US" sz="10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Vibe Money  ·  The Answer Desk user guide</a:t>
            </a:r>
            <a:endParaRPr lang="en-US" sz="10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munikumargv.github.io/VibeMoney/" TargetMode="External"/><Relationship Id="rId1"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5486400" cy="2103120"/>
          </a:xfrm>
          <a:prstGeom prst="rect">
            <a:avLst/>
          </a:prstGeom>
          <a:noFill/>
          <a:ln/>
        </p:spPr>
        <p:txBody>
          <a:bodyPr wrap="square" lIns="0" tIns="0" rIns="0" bIns="0" rtlCol="0" anchor="t"/>
          <a:lstStyle/>
          <a:p>
            <a:pPr algn="l" indent="0" marL="0">
              <a:buNone/>
            </a:pPr>
            <a:r>
              <a:rPr lang="en-US" sz="5600" b="1" dirty="0">
                <a:solidFill>
                  <a:schemeClr val="bg1"/>
                </a:solidFill>
              </a:rPr>
              <a:t>The Answer </a:t>
            </a:r>
            <a:pPr algn="l" indent="0" marL="0">
              <a:buNone/>
            </a:pPr>
            <a:r>
              <a:rPr lang="en-US" sz="5600" b="1" dirty="0">
                <a:solidFill>
                  <a:schemeClr val="accent1"/>
                </a:solidFill>
              </a:rPr>
              <a:t>Desk</a:t>
            </a:r>
            <a:endParaRPr lang="en-US" sz="5600" dirty="0"/>
          </a:p>
        </p:txBody>
      </p:sp>
      <p:sp>
        <p:nvSpPr>
          <p:cNvPr id="3" name="Text 0"/>
          <p:cNvSpPr/>
          <p:nvPr>
            <p:ph idx="101" type="body" hasCustomPrompt="1"/>
          </p:nvPr>
        </p:nvSpPr>
        <p:spPr>
          <a:xfrm>
            <a:off x="548640" y="4023360"/>
            <a:ext cx="5303520" cy="1188720"/>
          </a:xfrm>
          <a:prstGeom prst="rect">
            <a:avLst/>
          </a:prstGeom>
          <a:noFill/>
          <a:ln/>
        </p:spPr>
        <p:txBody>
          <a:bodyPr wrap="square" lIns="0" tIns="0" rIns="0" bIns="0" rtlCol="0" anchor="t"/>
          <a:lstStyle/>
          <a:p>
            <a:pPr algn="l" indent="0" marL="0">
              <a:buNone/>
            </a:pPr>
            <a:r>
              <a:rPr lang="en-US" sz="2000" dirty="0">
                <a:solidFill>
                  <a:schemeClr val="accent4"/>
                </a:solidFill>
              </a:rPr>
              <a:t>User guide: see what AI assistants say about a business, correct it, and publish facts AI agents can read</a:t>
            </a:r>
            <a:endParaRPr lang="en-US" sz="2000" dirty="0"/>
          </a:p>
        </p:txBody>
      </p:sp>
      <p:sp>
        <p:nvSpPr>
          <p:cNvPr id="4" name="Byline"/>
          <p:cNvSpPr txBox="1"/>
          <p:nvPr/>
        </p:nvSpPr>
        <p:spPr>
          <a:xfrm>
            <a:off x="548640" y="6035040"/>
            <a:ext cx="5486400" cy="274320"/>
          </a:xfrm>
          <a:prstGeom prst="rect">
            <a:avLst/>
          </a:prstGeom>
          <a:noFill/>
          <a:ln/>
        </p:spPr>
        <p:txBody>
          <a:bodyPr wrap="square" lIns="0" tIns="0" rIns="0" bIns="0" rtlCol="0" anchor="ctr"/>
          <a:lstStyle/>
          <a:p>
            <a:pPr indent="0" marL="0">
              <a:buNone/>
            </a:pPr>
            <a:r>
              <a:rPr lang="en-US" sz="1200" dirty="0">
                <a:solidFill>
                  <a:schemeClr val="accent6"/>
                </a:solidFill>
              </a:rPr>
              <a:t>Vibe Money  ·  Abu Dhabi SME pilot</a:t>
            </a:r>
            <a:endParaRPr lang="en-US" sz="1200" dirty="0"/>
          </a:p>
        </p:txBody>
      </p:sp>
      <p:pic>
        <p:nvPicPr>
          <p:cNvPr id="5" name="Screenshot: The Answer Desk showing Sidra Coffee Roasters named in 9% of AI answers" descr="The Answer Desk showing Sidra Coffee Roasters named in 9% of AI answers">    </p:cNvPr>
          <p:cNvPicPr>
            <a:picLocks noChangeAspect="1"/>
          </p:cNvPicPr>
          <p:nvPr/>
        </p:nvPicPr>
        <p:blipFill>
          <a:blip r:embed="rId1"/>
          <a:stretch>
            <a:fillRect/>
          </a:stretch>
        </p:blipFill>
        <p:spPr>
          <a:xfrm>
            <a:off x="6309360" y="1554480"/>
            <a:ext cx="5349240" cy="3306128"/>
          </a:xfrm>
          <a:prstGeom prst="rect">
            <a:avLst/>
          </a:prstGeom>
          <a:effectLst>
            <a:outerShdw sx="100000" sy="100000" kx="0" ky="0" algn="bl" rotWithShape="0" blurRad="127000" dist="38100" dir="5400000">
              <a:srgbClr val="000000">
                <a:alpha val="16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What the Answer Desk does</a:t>
            </a:r>
            <a:endParaRPr lang="en-US" sz="3600" dirty="0"/>
          </a:p>
        </p:txBody>
      </p:sp>
      <p:sp>
        <p:nvSpPr>
          <p:cNvPr id="3" name="Card 1"/>
          <p:cNvSpPr/>
          <p:nvPr/>
        </p:nvSpPr>
        <p:spPr>
          <a:xfrm>
            <a:off x="548640" y="1600200"/>
            <a:ext cx="3474720" cy="3246120"/>
          </a:xfrm>
          <a:prstGeom prst="roundRect">
            <a:avLst>
              <a:gd name="adj" fmla="val 2254"/>
            </a:avLst>
          </a:prstGeom>
          <a:solidFill>
            <a:schemeClr val="bg1"/>
          </a:solidFill>
          <a:ln w="9525">
            <a:solidFill>
              <a:srgbClr val="D2D9DF"/>
            </a:solidFill>
            <a:prstDash val="solid"/>
          </a:ln>
        </p:spPr>
      </p:sp>
      <p:sp>
        <p:nvSpPr>
          <p:cNvPr id="4" name="Audit circle"/>
          <p:cNvSpPr/>
          <p:nvPr/>
        </p:nvSpPr>
        <p:spPr>
          <a:xfrm>
            <a:off x="868680" y="1920240"/>
            <a:ext cx="685800" cy="685800"/>
          </a:xfrm>
          <a:prstGeom prst="ellipse">
            <a:avLst/>
          </a:prstGeom>
          <a:solidFill>
            <a:schemeClr val="accent1"/>
          </a:solidFill>
          <a:ln/>
        </p:spPr>
      </p:sp>
      <p:pic>
        <p:nvPicPr>
          <p:cNvPr id="5" name="Audit" descr="Audit">    </p:cNvPr>
          <p:cNvPicPr>
            <a:picLocks noChangeAspect="1"/>
          </p:cNvPicPr>
          <p:nvPr/>
        </p:nvPicPr>
        <p:blipFill>
          <a:blip r:embed="rId1"/>
          <a:stretch>
            <a:fillRect/>
          </a:stretch>
        </p:blipFill>
        <p:spPr>
          <a:xfrm>
            <a:off x="1053846" y="2105406"/>
            <a:ext cx="315468" cy="315468"/>
          </a:xfrm>
          <a:prstGeom prst="rect">
            <a:avLst/>
          </a:prstGeom>
        </p:spPr>
      </p:pic>
      <p:sp>
        <p:nvSpPr>
          <p:cNvPr id="6" name="Card 1 title"/>
          <p:cNvSpPr txBox="1"/>
          <p:nvPr/>
        </p:nvSpPr>
        <p:spPr>
          <a:xfrm>
            <a:off x="868680" y="2788920"/>
            <a:ext cx="2834640" cy="457200"/>
          </a:xfrm>
          <a:prstGeom prst="rect">
            <a:avLst/>
          </a:prstGeom>
          <a:noFill/>
          <a:ln/>
        </p:spPr>
        <p:txBody>
          <a:bodyPr wrap="square" lIns="0" tIns="0" rIns="0" bIns="0" rtlCol="0" anchor="ctr"/>
          <a:lstStyle/>
          <a:p>
            <a:pPr indent="0" marL="0">
              <a:buNone/>
            </a:pPr>
            <a:r>
              <a:rPr lang="en-US" sz="2400" b="1" dirty="0">
                <a:solidFill>
                  <a:schemeClr val="tx1"/>
                </a:solidFill>
              </a:rPr>
              <a:t>1  Audit</a:t>
            </a:r>
            <a:endParaRPr lang="en-US" sz="2400" dirty="0"/>
          </a:p>
        </p:txBody>
      </p:sp>
      <p:sp>
        <p:nvSpPr>
          <p:cNvPr id="7" name="Card 1 text"/>
          <p:cNvSpPr txBox="1"/>
          <p:nvPr/>
        </p:nvSpPr>
        <p:spPr>
          <a:xfrm>
            <a:off x="868680" y="3337560"/>
            <a:ext cx="2834640" cy="1371600"/>
          </a:xfrm>
          <a:prstGeom prst="rect">
            <a:avLst/>
          </a:prstGeom>
          <a:noFill/>
          <a:ln/>
        </p:spPr>
        <p:txBody>
          <a:bodyPr wrap="square" lIns="0" tIns="0" rIns="0" bIns="0" rtlCol="0" anchor="t"/>
          <a:lstStyle/>
          <a:p>
            <a:pPr indent="0" marL="0">
              <a:buNone/>
            </a:pPr>
            <a:r>
              <a:rPr lang="en-US" sz="1700" dirty="0">
                <a:solidFill>
                  <a:schemeClr val="accent3"/>
                </a:solidFill>
              </a:rPr>
              <a:t>Ask assistants the questions customers ask. See how often the business is named, and whether the facts they give are right.</a:t>
            </a:r>
            <a:endParaRPr lang="en-US" sz="1700" dirty="0"/>
          </a:p>
        </p:txBody>
      </p:sp>
      <p:sp>
        <p:nvSpPr>
          <p:cNvPr id="8" name="Card 2"/>
          <p:cNvSpPr/>
          <p:nvPr/>
        </p:nvSpPr>
        <p:spPr>
          <a:xfrm>
            <a:off x="4358488" y="1600200"/>
            <a:ext cx="3474720" cy="3246120"/>
          </a:xfrm>
          <a:prstGeom prst="roundRect">
            <a:avLst>
              <a:gd name="adj" fmla="val 2254"/>
            </a:avLst>
          </a:prstGeom>
          <a:solidFill>
            <a:schemeClr val="bg1"/>
          </a:solidFill>
          <a:ln w="9525">
            <a:solidFill>
              <a:srgbClr val="D2D9DF"/>
            </a:solidFill>
            <a:prstDash val="solid"/>
          </a:ln>
        </p:spPr>
      </p:sp>
      <p:sp>
        <p:nvSpPr>
          <p:cNvPr id="9" name="Correct circle"/>
          <p:cNvSpPr/>
          <p:nvPr/>
        </p:nvSpPr>
        <p:spPr>
          <a:xfrm>
            <a:off x="4678528" y="1920240"/>
            <a:ext cx="685800" cy="685800"/>
          </a:xfrm>
          <a:prstGeom prst="ellipse">
            <a:avLst/>
          </a:prstGeom>
          <a:solidFill>
            <a:schemeClr val="accent1"/>
          </a:solidFill>
          <a:ln/>
        </p:spPr>
      </p:sp>
      <p:pic>
        <p:nvPicPr>
          <p:cNvPr id="10" name="Correct" descr="Correct">    </p:cNvPr>
          <p:cNvPicPr>
            <a:picLocks noChangeAspect="1"/>
          </p:cNvPicPr>
          <p:nvPr/>
        </p:nvPicPr>
        <p:blipFill>
          <a:blip r:embed="rId2"/>
          <a:stretch>
            <a:fillRect/>
          </a:stretch>
        </p:blipFill>
        <p:spPr>
          <a:xfrm>
            <a:off x="4863694" y="2105406"/>
            <a:ext cx="315468" cy="315468"/>
          </a:xfrm>
          <a:prstGeom prst="rect">
            <a:avLst/>
          </a:prstGeom>
        </p:spPr>
      </p:pic>
      <p:sp>
        <p:nvSpPr>
          <p:cNvPr id="11" name="Card 2 title"/>
          <p:cNvSpPr txBox="1"/>
          <p:nvPr/>
        </p:nvSpPr>
        <p:spPr>
          <a:xfrm>
            <a:off x="4678528" y="2788920"/>
            <a:ext cx="2834640" cy="457200"/>
          </a:xfrm>
          <a:prstGeom prst="rect">
            <a:avLst/>
          </a:prstGeom>
          <a:noFill/>
          <a:ln/>
        </p:spPr>
        <p:txBody>
          <a:bodyPr wrap="square" lIns="0" tIns="0" rIns="0" bIns="0" rtlCol="0" anchor="ctr"/>
          <a:lstStyle/>
          <a:p>
            <a:pPr indent="0" marL="0">
              <a:buNone/>
            </a:pPr>
            <a:r>
              <a:rPr lang="en-US" sz="2400" b="1" dirty="0">
                <a:solidFill>
                  <a:schemeClr val="tx1"/>
                </a:solidFill>
              </a:rPr>
              <a:t>2  Correct</a:t>
            </a:r>
            <a:endParaRPr lang="en-US" sz="2400" dirty="0"/>
          </a:p>
        </p:txBody>
      </p:sp>
      <p:sp>
        <p:nvSpPr>
          <p:cNvPr id="12" name="Card 2 text"/>
          <p:cNvSpPr txBox="1"/>
          <p:nvPr/>
        </p:nvSpPr>
        <p:spPr>
          <a:xfrm>
            <a:off x="4678528" y="3337560"/>
            <a:ext cx="2834640" cy="1371600"/>
          </a:xfrm>
          <a:prstGeom prst="rect">
            <a:avLst/>
          </a:prstGeom>
          <a:noFill/>
          <a:ln/>
        </p:spPr>
        <p:txBody>
          <a:bodyPr wrap="square" lIns="0" tIns="0" rIns="0" bIns="0" rtlCol="0" anchor="t"/>
          <a:lstStyle/>
          <a:p>
            <a:pPr indent="0" marL="0">
              <a:buNone/>
            </a:pPr>
            <a:r>
              <a:rPr lang="en-US" sz="1700" dirty="0">
                <a:solidFill>
                  <a:schemeClr val="accent3"/>
                </a:solidFill>
              </a:rPr>
              <a:t>Follow a ranked fix plan: more reviews, consistent listings, and structured facts assistants can trust.</a:t>
            </a:r>
            <a:endParaRPr lang="en-US" sz="1700" dirty="0"/>
          </a:p>
        </p:txBody>
      </p:sp>
      <p:sp>
        <p:nvSpPr>
          <p:cNvPr id="13" name="Card 3"/>
          <p:cNvSpPr/>
          <p:nvPr/>
        </p:nvSpPr>
        <p:spPr>
          <a:xfrm>
            <a:off x="8168335" y="1600200"/>
            <a:ext cx="3474720" cy="3246120"/>
          </a:xfrm>
          <a:prstGeom prst="roundRect">
            <a:avLst>
              <a:gd name="adj" fmla="val 2254"/>
            </a:avLst>
          </a:prstGeom>
          <a:solidFill>
            <a:schemeClr val="bg1"/>
          </a:solidFill>
          <a:ln w="9525">
            <a:solidFill>
              <a:srgbClr val="D2D9DF"/>
            </a:solidFill>
            <a:prstDash val="solid"/>
          </a:ln>
        </p:spPr>
      </p:sp>
      <p:sp>
        <p:nvSpPr>
          <p:cNvPr id="14" name="Publish circle"/>
          <p:cNvSpPr/>
          <p:nvPr/>
        </p:nvSpPr>
        <p:spPr>
          <a:xfrm>
            <a:off x="8488375" y="1920240"/>
            <a:ext cx="685800" cy="685800"/>
          </a:xfrm>
          <a:prstGeom prst="ellipse">
            <a:avLst/>
          </a:prstGeom>
          <a:solidFill>
            <a:schemeClr val="accent1"/>
          </a:solidFill>
          <a:ln/>
        </p:spPr>
      </p:sp>
      <p:pic>
        <p:nvPicPr>
          <p:cNvPr id="15" name="Publish" descr="Publish">    </p:cNvPr>
          <p:cNvPicPr>
            <a:picLocks noChangeAspect="1"/>
          </p:cNvPicPr>
          <p:nvPr/>
        </p:nvPicPr>
        <p:blipFill>
          <a:blip r:embed="rId3"/>
          <a:stretch>
            <a:fillRect/>
          </a:stretch>
        </p:blipFill>
        <p:spPr>
          <a:xfrm>
            <a:off x="8673541" y="2105406"/>
            <a:ext cx="315468" cy="315468"/>
          </a:xfrm>
          <a:prstGeom prst="rect">
            <a:avLst/>
          </a:prstGeom>
        </p:spPr>
      </p:pic>
      <p:sp>
        <p:nvSpPr>
          <p:cNvPr id="16" name="Card 3 title"/>
          <p:cNvSpPr txBox="1"/>
          <p:nvPr/>
        </p:nvSpPr>
        <p:spPr>
          <a:xfrm>
            <a:off x="8488375" y="2788920"/>
            <a:ext cx="2834640" cy="457200"/>
          </a:xfrm>
          <a:prstGeom prst="rect">
            <a:avLst/>
          </a:prstGeom>
          <a:noFill/>
          <a:ln/>
        </p:spPr>
        <p:txBody>
          <a:bodyPr wrap="square" lIns="0" tIns="0" rIns="0" bIns="0" rtlCol="0" anchor="ctr"/>
          <a:lstStyle/>
          <a:p>
            <a:pPr indent="0" marL="0">
              <a:buNone/>
            </a:pPr>
            <a:r>
              <a:rPr lang="en-US" sz="2400" b="1" dirty="0">
                <a:solidFill>
                  <a:schemeClr val="tx1"/>
                </a:solidFill>
              </a:rPr>
              <a:t>3  Publish</a:t>
            </a:r>
            <a:endParaRPr lang="en-US" sz="2400" dirty="0"/>
          </a:p>
        </p:txBody>
      </p:sp>
      <p:sp>
        <p:nvSpPr>
          <p:cNvPr id="17" name="Card 3 text"/>
          <p:cNvSpPr txBox="1"/>
          <p:nvPr/>
        </p:nvSpPr>
        <p:spPr>
          <a:xfrm>
            <a:off x="8488375" y="3337560"/>
            <a:ext cx="2834640" cy="1371600"/>
          </a:xfrm>
          <a:prstGeom prst="rect">
            <a:avLst/>
          </a:prstGeom>
          <a:noFill/>
          <a:ln/>
        </p:spPr>
        <p:txBody>
          <a:bodyPr wrap="square" lIns="0" tIns="0" rIns="0" bIns="0" rtlCol="0" anchor="t"/>
          <a:lstStyle/>
          <a:p>
            <a:pPr indent="0" marL="0">
              <a:buNone/>
            </a:pPr>
            <a:r>
              <a:rPr lang="en-US" sz="1700" dirty="0">
                <a:solidFill>
                  <a:schemeClr val="accent3"/>
                </a:solidFill>
              </a:rPr>
              <a:t>Put verified facts online where assistants and AI agents read them, with a signed agent card agents can check.</a:t>
            </a:r>
            <a:endParaRPr lang="en-US" sz="1700" dirty="0"/>
          </a:p>
        </p:txBody>
      </p:sp>
      <p:sp>
        <p:nvSpPr>
          <p:cNvPr id="18" name="Loop banner"/>
          <p:cNvSpPr/>
          <p:nvPr/>
        </p:nvSpPr>
        <p:spPr>
          <a:xfrm>
            <a:off x="548640" y="5120640"/>
            <a:ext cx="11094415" cy="868680"/>
          </a:xfrm>
          <a:prstGeom prst="roundRect">
            <a:avLst>
              <a:gd name="adj" fmla="val 8421"/>
            </a:avLst>
          </a:prstGeom>
          <a:solidFill>
            <a:schemeClr val="tx1"/>
          </a:solidFill>
          <a:ln/>
        </p:spPr>
      </p:sp>
      <p:sp>
        <p:nvSpPr>
          <p:cNvPr id="19" name="Repeat circle"/>
          <p:cNvSpPr/>
          <p:nvPr/>
        </p:nvSpPr>
        <p:spPr>
          <a:xfrm>
            <a:off x="822960" y="5285232"/>
            <a:ext cx="548640" cy="548640"/>
          </a:xfrm>
          <a:prstGeom prst="ellipse">
            <a:avLst/>
          </a:prstGeom>
          <a:solidFill>
            <a:schemeClr val="accent1"/>
          </a:solidFill>
          <a:ln/>
        </p:spPr>
      </p:sp>
      <p:pic>
        <p:nvPicPr>
          <p:cNvPr id="20" name="Repeat" descr="Repeat">    </p:cNvPr>
          <p:cNvPicPr>
            <a:picLocks noChangeAspect="1"/>
          </p:cNvPicPr>
          <p:nvPr/>
        </p:nvPicPr>
        <p:blipFill>
          <a:blip r:embed="rId4"/>
          <a:stretch>
            <a:fillRect/>
          </a:stretch>
        </p:blipFill>
        <p:spPr>
          <a:xfrm>
            <a:off x="971093" y="5433365"/>
            <a:ext cx="252374" cy="252374"/>
          </a:xfrm>
          <a:prstGeom prst="rect">
            <a:avLst/>
          </a:prstGeom>
        </p:spPr>
      </p:pic>
      <p:sp>
        <p:nvSpPr>
          <p:cNvPr id="21" name="Loop text"/>
          <p:cNvSpPr txBox="1"/>
          <p:nvPr/>
        </p:nvSpPr>
        <p:spPr>
          <a:xfrm>
            <a:off x="1600200" y="5120640"/>
            <a:ext cx="9722815" cy="868680"/>
          </a:xfrm>
          <a:prstGeom prst="rect">
            <a:avLst/>
          </a:prstGeom>
          <a:noFill/>
          <a:ln/>
        </p:spPr>
        <p:txBody>
          <a:bodyPr wrap="square" lIns="0" tIns="0" rIns="0" bIns="0" rtlCol="0" anchor="ctr"/>
          <a:lstStyle/>
          <a:p>
            <a:pPr indent="0" marL="0">
              <a:buNone/>
            </a:pPr>
            <a:r>
              <a:rPr lang="en-US" sz="1800" dirty="0">
                <a:solidFill>
                  <a:schemeClr val="bg1"/>
                </a:solidFill>
              </a:rPr>
              <a:t>Then ask the assistants again. Same questions, same assistants, so the change is measured, not guessed.</a:t>
            </a:r>
            <a:endParaRPr lang="en-US" sz="18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Two ways to open the Desk</a:t>
            </a:r>
            <a:endParaRPr lang="en-US" sz="3600" dirty="0"/>
          </a:p>
        </p:txBody>
      </p:sp>
      <p:sp>
        <p:nvSpPr>
          <p:cNvPr id="3" name="Static edition card"/>
          <p:cNvSpPr/>
          <p:nvPr/>
        </p:nvSpPr>
        <p:spPr>
          <a:xfrm>
            <a:off x="548640" y="1600200"/>
            <a:ext cx="5394960" cy="3840480"/>
          </a:xfrm>
          <a:prstGeom prst="roundRect">
            <a:avLst>
              <a:gd name="adj" fmla="val 1905"/>
            </a:avLst>
          </a:prstGeom>
          <a:solidFill>
            <a:schemeClr val="bg1"/>
          </a:solidFill>
          <a:ln w="9525">
            <a:solidFill>
              <a:srgbClr val="D2D9DF"/>
            </a:solidFill>
            <a:prstDash val="solid"/>
          </a:ln>
        </p:spPr>
      </p:sp>
      <p:sp>
        <p:nvSpPr>
          <p:cNvPr id="4" name="Static edition circle"/>
          <p:cNvSpPr/>
          <p:nvPr/>
        </p:nvSpPr>
        <p:spPr>
          <a:xfrm>
            <a:off x="868680" y="1874520"/>
            <a:ext cx="640080" cy="640080"/>
          </a:xfrm>
          <a:prstGeom prst="ellipse">
            <a:avLst/>
          </a:prstGeom>
          <a:solidFill>
            <a:schemeClr val="accent1"/>
          </a:solidFill>
          <a:ln/>
        </p:spPr>
      </p:sp>
      <p:pic>
        <p:nvPicPr>
          <p:cNvPr id="5" name="Static edition" descr="Static edition">    </p:cNvPr>
          <p:cNvPicPr>
            <a:picLocks noChangeAspect="1"/>
          </p:cNvPicPr>
          <p:nvPr/>
        </p:nvPicPr>
        <p:blipFill>
          <a:blip r:embed="rId1"/>
          <a:stretch>
            <a:fillRect/>
          </a:stretch>
        </p:blipFill>
        <p:spPr>
          <a:xfrm>
            <a:off x="1041502" y="2047342"/>
            <a:ext cx="294437" cy="294437"/>
          </a:xfrm>
          <a:prstGeom prst="rect">
            <a:avLst/>
          </a:prstGeom>
        </p:spPr>
      </p:pic>
      <p:sp>
        <p:nvSpPr>
          <p:cNvPr id="6" name="Static edition title"/>
          <p:cNvSpPr txBox="1"/>
          <p:nvPr/>
        </p:nvSpPr>
        <p:spPr>
          <a:xfrm>
            <a:off x="1691640" y="1874520"/>
            <a:ext cx="3931920" cy="640080"/>
          </a:xfrm>
          <a:prstGeom prst="rect">
            <a:avLst/>
          </a:prstGeom>
          <a:noFill/>
          <a:ln/>
        </p:spPr>
        <p:txBody>
          <a:bodyPr wrap="square" lIns="0" tIns="0" rIns="0" bIns="0" rtlCol="0" anchor="ctr"/>
          <a:lstStyle/>
          <a:p>
            <a:pPr indent="0" marL="0">
              <a:buNone/>
            </a:pPr>
            <a:r>
              <a:rPr lang="en-US" sz="2400" b="1" dirty="0">
                <a:solidFill>
                  <a:schemeClr val="tx1"/>
                </a:solidFill>
              </a:rPr>
              <a:t>Static edition</a:t>
            </a:r>
            <a:endParaRPr lang="en-US" sz="2400" dirty="0"/>
          </a:p>
        </p:txBody>
      </p:sp>
      <p:sp>
        <p:nvSpPr>
          <p:cNvPr id="7" name="Static edition text"/>
          <p:cNvSpPr txBox="1"/>
          <p:nvPr/>
        </p:nvSpPr>
        <p:spPr>
          <a:xfrm>
            <a:off x="868680" y="2788920"/>
            <a:ext cx="4754880" cy="2468880"/>
          </a:xfrm>
          <a:prstGeom prst="rect">
            <a:avLst/>
          </a:prstGeom>
          <a:noFill/>
          <a:ln/>
        </p:spPr>
        <p:txBody>
          <a:bodyPr wrap="square" lIns="0" tIns="0" rIns="0" bIns="0" rtlCol="0" anchor="t"/>
          <a:lstStyle/>
          <a:p>
            <a:pPr indent="0" marL="0">
              <a:spcAft>
                <a:spcPts val="1400"/>
              </a:spcAft>
              <a:buNone/>
            </a:pPr>
            <a:r>
              <a:rPr lang="en-US" sz="1800" b="1"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munikumargv.github.io/VibeMoney</a:t>
            </a:r>
            <a:endParaRPr lang="en-US" sz="1800" dirty="0"/>
          </a:p>
          <a:p>
            <a:pPr marL="342900" indent="-342900">
              <a:spcAft>
                <a:spcPts val="1000"/>
              </a:spcAft>
              <a:buSzPct val="100000"/>
              <a:buChar char="•"/>
            </a:pPr>
            <a:r>
              <a:rPr lang="en-US" sz="1700" dirty="0">
                <a:solidFill>
                  <a:schemeClr val="accent3"/>
                </a:solidFill>
              </a:rPr>
              <a:t>Runs entirely in your browser; nothing is sent anywhere</a:t>
            </a:r>
            <a:endParaRPr lang="en-US" sz="1800" dirty="0"/>
          </a:p>
          <a:p>
            <a:pPr marL="342900" indent="-342900">
              <a:spcAft>
                <a:spcPts val="1000"/>
              </a:spcAft>
              <a:buSzPct val="100000"/>
              <a:buChar char="•"/>
            </a:pPr>
            <a:r>
              <a:rPr lang="en-US" sz="1700" dirty="0">
                <a:solidFill>
                  <a:schemeClr val="accent3"/>
                </a:solidFill>
              </a:rPr>
              <a:t>Your changes are saved in this browser only</a:t>
            </a:r>
            <a:endParaRPr lang="en-US" sz="1800" dirty="0"/>
          </a:p>
          <a:p>
            <a:pPr marL="342900" indent="-342900">
              <a:spcAft>
                <a:spcPts val="1000"/>
              </a:spcAft>
              <a:buSzPct val="100000"/>
              <a:buChar char="•"/>
            </a:pPr>
            <a:r>
              <a:rPr lang="en-US" sz="1700" dirty="0">
                <a:solidFill>
                  <a:schemeClr val="accent3"/>
                </a:solidFill>
              </a:rPr>
              <a:t>Simulated assistants only</a:t>
            </a:r>
            <a:endParaRPr lang="en-US" sz="1800" dirty="0"/>
          </a:p>
          <a:p>
            <a:pPr marL="342900" indent="-342900">
              <a:spcAft>
                <a:spcPts val="1000"/>
              </a:spcAft>
              <a:buSzPct val="100000"/>
              <a:buChar char="•"/>
            </a:pPr>
            <a:r>
              <a:rPr lang="en-US" sz="1700" dirty="0">
                <a:solidFill>
                  <a:schemeClr val="accent3"/>
                </a:solidFill>
              </a:rPr>
              <a:t>Reset the demo, in the page footer, restores the starting state</a:t>
            </a:r>
            <a:endParaRPr lang="en-US" sz="1800" dirty="0"/>
          </a:p>
        </p:txBody>
      </p:sp>
      <p:sp>
        <p:nvSpPr>
          <p:cNvPr id="8" name="Server edition card"/>
          <p:cNvSpPr/>
          <p:nvPr/>
        </p:nvSpPr>
        <p:spPr>
          <a:xfrm>
            <a:off x="6248095" y="1600200"/>
            <a:ext cx="5394960" cy="3840480"/>
          </a:xfrm>
          <a:prstGeom prst="roundRect">
            <a:avLst>
              <a:gd name="adj" fmla="val 1905"/>
            </a:avLst>
          </a:prstGeom>
          <a:solidFill>
            <a:schemeClr val="bg1"/>
          </a:solidFill>
          <a:ln w="9525">
            <a:solidFill>
              <a:srgbClr val="D2D9DF"/>
            </a:solidFill>
            <a:prstDash val="solid"/>
          </a:ln>
        </p:spPr>
      </p:sp>
      <p:sp>
        <p:nvSpPr>
          <p:cNvPr id="9" name="Server edition circle"/>
          <p:cNvSpPr/>
          <p:nvPr/>
        </p:nvSpPr>
        <p:spPr>
          <a:xfrm>
            <a:off x="6568135" y="1874520"/>
            <a:ext cx="640080" cy="640080"/>
          </a:xfrm>
          <a:prstGeom prst="ellipse">
            <a:avLst/>
          </a:prstGeom>
          <a:solidFill>
            <a:schemeClr val="accent1"/>
          </a:solidFill>
          <a:ln/>
        </p:spPr>
      </p:sp>
      <p:pic>
        <p:nvPicPr>
          <p:cNvPr id="10" name="Server edition" descr="Server edition">    </p:cNvPr>
          <p:cNvPicPr>
            <a:picLocks noChangeAspect="1"/>
          </p:cNvPicPr>
          <p:nvPr/>
        </p:nvPicPr>
        <p:blipFill>
          <a:blip r:embed="rId3"/>
          <a:stretch>
            <a:fillRect/>
          </a:stretch>
        </p:blipFill>
        <p:spPr>
          <a:xfrm>
            <a:off x="6740957" y="2047342"/>
            <a:ext cx="294437" cy="294437"/>
          </a:xfrm>
          <a:prstGeom prst="rect">
            <a:avLst/>
          </a:prstGeom>
        </p:spPr>
      </p:pic>
      <p:sp>
        <p:nvSpPr>
          <p:cNvPr id="11" name="Server edition title"/>
          <p:cNvSpPr txBox="1"/>
          <p:nvPr/>
        </p:nvSpPr>
        <p:spPr>
          <a:xfrm>
            <a:off x="7391095" y="1874520"/>
            <a:ext cx="3931920" cy="640080"/>
          </a:xfrm>
          <a:prstGeom prst="rect">
            <a:avLst/>
          </a:prstGeom>
          <a:noFill/>
          <a:ln/>
        </p:spPr>
        <p:txBody>
          <a:bodyPr wrap="square" lIns="0" tIns="0" rIns="0" bIns="0" rtlCol="0" anchor="ctr"/>
          <a:lstStyle/>
          <a:p>
            <a:pPr indent="0" marL="0">
              <a:buNone/>
            </a:pPr>
            <a:r>
              <a:rPr lang="en-US" sz="2400" b="1" dirty="0">
                <a:solidFill>
                  <a:schemeClr val="tx1"/>
                </a:solidFill>
              </a:rPr>
              <a:t>Server edition</a:t>
            </a:r>
            <a:endParaRPr lang="en-US" sz="2400" dirty="0"/>
          </a:p>
        </p:txBody>
      </p:sp>
      <p:sp>
        <p:nvSpPr>
          <p:cNvPr id="12" name="Server edition text"/>
          <p:cNvSpPr txBox="1"/>
          <p:nvPr/>
        </p:nvSpPr>
        <p:spPr>
          <a:xfrm>
            <a:off x="6568135" y="2788920"/>
            <a:ext cx="4754880" cy="2468880"/>
          </a:xfrm>
          <a:prstGeom prst="rect">
            <a:avLst/>
          </a:prstGeom>
          <a:noFill/>
          <a:ln/>
        </p:spPr>
        <p:txBody>
          <a:bodyPr wrap="square" lIns="0" tIns="0" rIns="0" bIns="0" rtlCol="0" anchor="t"/>
          <a:lstStyle/>
          <a:p>
            <a:pPr indent="0" marL="0">
              <a:spcAft>
                <a:spcPts val="1400"/>
              </a:spcAft>
              <a:buNone/>
            </a:pPr>
            <a:r>
              <a:rPr lang="en-US" sz="1800" b="1" dirty="0">
                <a:solidFill>
                  <a:srgbClr val="000000"/>
                </a:solidFill>
              </a:rPr>
              <a:t>npm start, then open localhost:3000</a:t>
            </a:r>
            <a:endParaRPr lang="en-US" sz="1800" dirty="0"/>
          </a:p>
          <a:p>
            <a:pPr marL="342900" indent="-342900">
              <a:spcAft>
                <a:spcPts val="1000"/>
              </a:spcAft>
              <a:buSzPct val="100000"/>
              <a:buChar char="•"/>
            </a:pPr>
            <a:r>
              <a:rPr lang="en-US" sz="1700" dirty="0">
                <a:solidFill>
                  <a:schemeClr val="accent3"/>
                </a:solidFill>
              </a:rPr>
              <a:t>Adds real Claude answers when ANTHROPIC_API_KEY is set</a:t>
            </a:r>
            <a:endParaRPr lang="en-US" sz="1800" dirty="0"/>
          </a:p>
          <a:p>
            <a:pPr marL="342900" indent="-342900">
              <a:spcAft>
                <a:spcPts val="1000"/>
              </a:spcAft>
              <a:buSzPct val="100000"/>
              <a:buChar char="•"/>
            </a:pPr>
            <a:r>
              <a:rPr lang="en-US" sz="1700" dirty="0">
                <a:solidFill>
                  <a:schemeClr val="accent3"/>
                </a:solidFill>
              </a:rPr>
              <a:t>Saves to a data file and serves published files at real URLs</a:t>
            </a:r>
            <a:endParaRPr lang="en-US" sz="1800" dirty="0"/>
          </a:p>
          <a:p>
            <a:pPr marL="342900" indent="-342900">
              <a:spcAft>
                <a:spcPts val="1000"/>
              </a:spcAft>
              <a:buSzPct val="100000"/>
              <a:buChar char="•"/>
            </a:pPr>
            <a:r>
              <a:rPr lang="en-US" sz="1700" dirty="0">
                <a:solidFill>
                  <a:schemeClr val="accent3"/>
                </a:solidFill>
              </a:rPr>
              <a:t>Outside agents can call the MCP endpoint</a:t>
            </a:r>
            <a:endParaRPr lang="en-US" sz="1800" dirty="0"/>
          </a:p>
        </p:txBody>
      </p:sp>
      <p:sp>
        <p:nvSpPr>
          <p:cNvPr id="13" name="Note"/>
          <p:cNvSpPr txBox="1"/>
          <p:nvPr/>
        </p:nvSpPr>
        <p:spPr>
          <a:xfrm>
            <a:off x="548640" y="5669280"/>
            <a:ext cx="11094415" cy="365760"/>
          </a:xfrm>
          <a:prstGeom prst="rect">
            <a:avLst/>
          </a:prstGeom>
          <a:noFill/>
          <a:ln/>
        </p:spPr>
        <p:txBody>
          <a:bodyPr wrap="square" lIns="0" tIns="0" rIns="0" bIns="0" rtlCol="0" anchor="ctr"/>
          <a:lstStyle/>
          <a:p>
            <a:pPr indent="0" marL="0">
              <a:buNone/>
            </a:pPr>
            <a:r>
              <a:rPr lang="en-US" sz="1600" dirty="0">
                <a:solidFill>
                  <a:schemeClr val="tx1"/>
                </a:solidFill>
              </a:rPr>
              <a:t>Both editions use the same engine and look identical.</a:t>
            </a:r>
            <a:endParaRPr lang="en-US" sz="16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What is real and what is simulated</a:t>
            </a:r>
            <a:endParaRPr lang="en-US" sz="3600" dirty="0"/>
          </a:p>
        </p:txBody>
      </p:sp>
      <p:graphicFrame>
        <p:nvGraphicFramePr>
          <p:cNvPr id="5" name="Real versus simulated"/>
          <p:cNvGraphicFramePr>
            <a:graphicFrameLocks noGrp="1"/>
          </p:cNvGraphicFramePr>
          <p:nvPr>
            <p:extLst>
              <p:ext uri="{D42A27DB-BD31-4B8C-83A1-F6EECF244321}">
                <p14:modId xmlns:p14="http://schemas.microsoft.com/office/powerpoint/2010/main" val="1579011935"/>
              </p:ext>
            </p:extLst>
          </p:nvPr>
        </p:nvGraphicFramePr>
        <p:xfrm>
          <a:off x="548640" y="1554480"/>
          <a:ext cx="11094415" cy="914400"/>
        </p:xfrm>
        <a:graphic>
          <a:graphicData uri="http://schemas.openxmlformats.org/drawingml/2006/table">
            <a:tbl>
              <a:tblPr/>
              <a:tblGrid>
                <a:gridCol w="2651760"/>
                <a:gridCol w="4114800"/>
                <a:gridCol w="4325112"/>
              </a:tblGrid>
              <a:tr h="457200">
                <a:tc>
                  <a:txBody>
                    <a:bodyPr/>
                    <a:lstStyle/>
                    <a:p>
                      <a:pPr indent="0" marL="0">
                        <a:buNone/>
                      </a:pPr>
                      <a:r>
                        <a:rPr lang="en-US" sz="1600" b="1" dirty="0">
                          <a:solidFill>
                            <a:schemeClr val="bg1"/>
                          </a:solidFill>
                        </a:rPr>
                        <a:t>Step</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Real</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tx1"/>
                    </a:solidFill>
                  </a:tcPr>
                </a:tc>
                <a:tc>
                  <a:txBody>
                    <a:bodyPr/>
                    <a:lstStyle/>
                    <a:p>
                      <a:pPr indent="0" marL="0">
                        <a:buNone/>
                      </a:pPr>
                      <a:r>
                        <a:rPr lang="en-US" sz="1600" b="1" dirty="0">
                          <a:solidFill>
                            <a:schemeClr val="bg1"/>
                          </a:solidFill>
                        </a:rPr>
                        <a:t>Simulated</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tx1"/>
                    </a:solidFill>
                  </a:tcPr>
                </a:tc>
              </a:tr>
              <a:tr h="777240">
                <a:tc>
                  <a:txBody>
                    <a:bodyPr/>
                    <a:lstStyle/>
                    <a:p>
                      <a:pPr indent="0" marL="0">
                        <a:buNone/>
                      </a:pPr>
                      <a:r>
                        <a:rPr lang="en-US" sz="1600" b="1" dirty="0">
                          <a:solidFill>
                            <a:schemeClr val="tx1"/>
                          </a:solidFill>
                        </a:rPr>
                        <a:t>Audit</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Claude's answers, in the server edition with an API key</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Four labelled assistants (A to D), driven by review count, listing consistency and structured data</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Fix listings, ask for reviews</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Nothing yet: no platform connection</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The whole step. Marked SIM</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777240">
                <a:tc>
                  <a:txBody>
                    <a:bodyPr/>
                    <a:lstStyle/>
                    <a:p>
                      <a:pPr indent="0" marL="0">
                        <a:buNone/>
                      </a:pPr>
                      <a:r>
                        <a:rPr lang="en-US" sz="1600" b="1" dirty="0">
                          <a:solidFill>
                            <a:schemeClr val="tx1"/>
                          </a:solidFill>
                        </a:rPr>
                        <a:t>Publish</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schema.json, llms.txt, a signed agent card and an MCP endpoint</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Nothing</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640080">
                <a:tc>
                  <a:txBody>
                    <a:bodyPr/>
                    <a:lstStyle/>
                    <a:p>
                      <a:pPr indent="0" marL="0">
                        <a:buNone/>
                      </a:pPr>
                      <a:r>
                        <a:rPr lang="en-US" sz="1600" b="1" dirty="0">
                          <a:solidFill>
                            <a:schemeClr val="tx1"/>
                          </a:solidFill>
                        </a:rPr>
                        <a:t>Program outcomes</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Compares only assistants present in both audits</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600" dirty="0">
                          <a:solidFill>
                            <a:schemeClr val="tx1"/>
                          </a:solidFill>
                        </a:rPr>
                        <a:t>Flagged SIM whenever it rests on simulated assistants</a:t>
                      </a:r>
                      <a:endParaRPr lang="en-US" sz="1600" dirty="0"/>
                    </a:p>
                  </a:txBody>
                  <a:tcPr marL="137160" marR="137160" marT="91440" marB="91440"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bl>
          </a:graphicData>
        </a:graphic>
      </p:graphicFrame>
      <p:sp>
        <p:nvSpPr>
          <p:cNvPr id="4" name="Caution banner"/>
          <p:cNvSpPr/>
          <p:nvPr/>
        </p:nvSpPr>
        <p:spPr>
          <a:xfrm>
            <a:off x="548640" y="5257800"/>
            <a:ext cx="11094415" cy="777240"/>
          </a:xfrm>
          <a:prstGeom prst="roundRect">
            <a:avLst>
              <a:gd name="adj" fmla="val 9412"/>
            </a:avLst>
          </a:prstGeom>
          <a:solidFill>
            <a:schemeClr val="tx1"/>
          </a:solidFill>
          <a:ln/>
        </p:spPr>
      </p:sp>
      <p:sp>
        <p:nvSpPr>
          <p:cNvPr id="5" name="Caution text"/>
          <p:cNvSpPr txBox="1"/>
          <p:nvPr/>
        </p:nvSpPr>
        <p:spPr>
          <a:xfrm>
            <a:off x="868680" y="5257800"/>
            <a:ext cx="10454335" cy="777240"/>
          </a:xfrm>
          <a:prstGeom prst="rect">
            <a:avLst/>
          </a:prstGeom>
          <a:noFill/>
          <a:ln/>
        </p:spPr>
        <p:txBody>
          <a:bodyPr wrap="square" lIns="0" tIns="0" rIns="0" bIns="0" rtlCol="0" anchor="ctr"/>
          <a:lstStyle/>
          <a:p>
            <a:pPr indent="0" marL="0">
              <a:buNone/>
            </a:pPr>
            <a:r>
              <a:rPr lang="en-US" sz="1800" b="1" dirty="0">
                <a:solidFill>
                  <a:schemeClr val="accent1"/>
                </a:solidFill>
              </a:rPr>
              <a:t>Simulated results show how the method works. </a:t>
            </a:r>
            <a:pPr indent="0" marL="0">
              <a:buNone/>
            </a:pPr>
            <a:r>
              <a:rPr lang="en-US" sz="1800" dirty="0">
                <a:solidFill>
                  <a:schemeClr val="bg1"/>
                </a:solidFill>
              </a:rPr>
              <a:t>They are not evidence. The pilot's evidence must come from real assistants.</a:t>
            </a:r>
            <a:endParaRPr lang="en-US" sz="18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A tour of the Desk</a:t>
            </a:r>
            <a:endParaRPr lang="en-US" sz="3600" dirty="0"/>
          </a:p>
        </p:txBody>
      </p:sp>
      <p:pic>
        <p:nvPicPr>
          <p:cNvPr id="3" name="Screenshot: The Desk for Sidra Coffee Roasters with five numbered regions" descr="The Desk for Sidra Coffee Roasters with five numbered regions">    </p:cNvPr>
          <p:cNvPicPr>
            <a:picLocks noChangeAspect="1"/>
          </p:cNvPicPr>
          <p:nvPr/>
        </p:nvPicPr>
        <p:blipFill>
          <a:blip r:embed="rId1"/>
          <a:stretch>
            <a:fillRect/>
          </a:stretch>
        </p:blipFill>
        <p:spPr>
          <a:xfrm>
            <a:off x="548640" y="1600200"/>
            <a:ext cx="6766560" cy="4182110"/>
          </a:xfrm>
          <a:prstGeom prst="rect">
            <a:avLst/>
          </a:prstGeom>
          <a:effectLst>
            <a:outerShdw sx="100000" sy="100000" kx="0" ky="0" algn="bl" rotWithShape="0" blurRad="127000" dist="38100" dir="5400000">
              <a:srgbClr val="000000">
                <a:alpha val="16000"/>
              </a:srgbClr>
            </a:outerShdw>
          </a:effectLst>
        </p:spPr>
      </p:pic>
      <p:sp>
        <p:nvSpPr>
          <p:cNvPr id="4" name="Number 1"/>
          <p:cNvSpPr txBox="1"/>
          <p:nvPr/>
        </p:nvSpPr>
        <p:spPr>
          <a:xfrm>
            <a:off x="1652524" y="1820672"/>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tx1"/>
                </a:solidFill>
              </a:rPr>
              <a:t>1</a:t>
            </a:r>
            <a:endParaRPr lang="en-US" sz="1200" dirty="0"/>
          </a:p>
        </p:txBody>
      </p:sp>
      <p:sp>
        <p:nvSpPr>
          <p:cNvPr id="5" name="Number 2"/>
          <p:cNvSpPr txBox="1"/>
          <p:nvPr/>
        </p:nvSpPr>
        <p:spPr>
          <a:xfrm>
            <a:off x="581152" y="3488817"/>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tx1"/>
                </a:solidFill>
              </a:rPr>
              <a:t>2</a:t>
            </a:r>
            <a:endParaRPr lang="en-US" sz="1200" dirty="0"/>
          </a:p>
        </p:txBody>
      </p:sp>
      <p:sp>
        <p:nvSpPr>
          <p:cNvPr id="6" name="Number 3"/>
          <p:cNvSpPr txBox="1"/>
          <p:nvPr/>
        </p:nvSpPr>
        <p:spPr>
          <a:xfrm>
            <a:off x="4857242" y="2102612"/>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tx1"/>
                </a:solidFill>
              </a:rPr>
              <a:t>3</a:t>
            </a:r>
            <a:endParaRPr lang="en-US" sz="1200" dirty="0"/>
          </a:p>
        </p:txBody>
      </p:sp>
      <p:sp>
        <p:nvSpPr>
          <p:cNvPr id="7" name="Number 4"/>
          <p:cNvSpPr txBox="1"/>
          <p:nvPr/>
        </p:nvSpPr>
        <p:spPr>
          <a:xfrm>
            <a:off x="3870452" y="5156962"/>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tx1"/>
                </a:solidFill>
              </a:rPr>
              <a:t>4</a:t>
            </a:r>
            <a:endParaRPr lang="en-US" sz="1200" dirty="0"/>
          </a:p>
        </p:txBody>
      </p:sp>
      <p:sp>
        <p:nvSpPr>
          <p:cNvPr id="8" name="Number 5"/>
          <p:cNvSpPr txBox="1"/>
          <p:nvPr/>
        </p:nvSpPr>
        <p:spPr>
          <a:xfrm>
            <a:off x="3635502" y="4555490"/>
            <a:ext cx="310896" cy="310896"/>
          </a:xfrm>
          <a:prstGeom prst="ellipse">
            <a:avLst/>
          </a:prstGeom>
          <a:solidFill>
            <a:schemeClr val="accent1"/>
          </a:solidFill>
          <a:ln/>
        </p:spPr>
        <p:txBody>
          <a:bodyPr wrap="square" lIns="0" tIns="0" rIns="0" bIns="0" rtlCol="0" anchor="ctr"/>
          <a:lstStyle/>
          <a:p>
            <a:pPr algn="ctr" indent="0" marL="0">
              <a:buNone/>
            </a:pPr>
            <a:r>
              <a:rPr lang="en-US" sz="1200" b="1" dirty="0">
                <a:solidFill>
                  <a:schemeClr val="tx1"/>
                </a:solidFill>
              </a:rPr>
              <a:t>5</a:t>
            </a:r>
            <a:endParaRPr lang="en-US" sz="1200" dirty="0"/>
          </a:p>
        </p:txBody>
      </p:sp>
      <p:sp>
        <p:nvSpPr>
          <p:cNvPr id="9" name="Number 1"/>
          <p:cNvSpPr txBox="1"/>
          <p:nvPr/>
        </p:nvSpPr>
        <p:spPr>
          <a:xfrm>
            <a:off x="7680960" y="1618488"/>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10" name="Tour item 1"/>
          <p:cNvSpPr txBox="1"/>
          <p:nvPr/>
        </p:nvSpPr>
        <p:spPr>
          <a:xfrm>
            <a:off x="8229600" y="1600200"/>
            <a:ext cx="3410712" cy="822960"/>
          </a:xfrm>
          <a:prstGeom prst="rect">
            <a:avLst/>
          </a:prstGeom>
          <a:noFill/>
          <a:ln/>
        </p:spPr>
        <p:txBody>
          <a:bodyPr wrap="square" lIns="0" tIns="0" rIns="0" bIns="0" rtlCol="0" anchor="t"/>
          <a:lstStyle/>
          <a:p>
            <a:pPr indent="0" marL="0">
              <a:buNone/>
            </a:pPr>
            <a:r>
              <a:rPr lang="en-US" sz="1600" b="1" dirty="0">
                <a:solidFill>
                  <a:schemeClr val="tx1"/>
                </a:solidFill>
              </a:rPr>
              <a:t>Index of businesses</a:t>
            </a:r>
            <a:endParaRPr lang="en-US" sz="1600" dirty="0"/>
          </a:p>
          <a:p>
            <a:pPr indent="0" marL="0">
              <a:buNone/>
            </a:pPr>
            <a:r>
              <a:rPr lang="en-US" sz="1400" dirty="0">
                <a:solidFill>
                  <a:schemeClr val="accent3"/>
                </a:solidFill>
              </a:rPr>
              <a:t>Every pilot business with its score and change. Select one to open its desk.</a:t>
            </a:r>
            <a:endParaRPr lang="en-US" sz="1600" dirty="0"/>
          </a:p>
        </p:txBody>
      </p:sp>
      <p:sp>
        <p:nvSpPr>
          <p:cNvPr id="11" name="Number 2"/>
          <p:cNvSpPr txBox="1"/>
          <p:nvPr/>
        </p:nvSpPr>
        <p:spPr>
          <a:xfrm>
            <a:off x="7680960" y="2514600"/>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2" name="Tour item 2"/>
          <p:cNvSpPr txBox="1"/>
          <p:nvPr/>
        </p:nvSpPr>
        <p:spPr>
          <a:xfrm>
            <a:off x="8229600" y="2496312"/>
            <a:ext cx="3410712" cy="822960"/>
          </a:xfrm>
          <a:prstGeom prst="rect">
            <a:avLst/>
          </a:prstGeom>
          <a:noFill/>
          <a:ln/>
        </p:spPr>
        <p:txBody>
          <a:bodyPr wrap="square" lIns="0" tIns="0" rIns="0" bIns="0" rtlCol="0" anchor="t"/>
          <a:lstStyle/>
          <a:p>
            <a:pPr indent="0" marL="0">
              <a:buNone/>
            </a:pPr>
            <a:r>
              <a:rPr lang="en-US" sz="1600" b="1" dirty="0">
                <a:solidFill>
                  <a:schemeClr val="tx1"/>
                </a:solidFill>
              </a:rPr>
              <a:t>The score</a:t>
            </a:r>
            <a:endParaRPr lang="en-US" sz="1600" dirty="0"/>
          </a:p>
          <a:p>
            <a:pPr indent="0" marL="0">
              <a:buNone/>
            </a:pPr>
            <a:r>
              <a:rPr lang="en-US" sz="1400" dirty="0">
                <a:solidFill>
                  <a:schemeClr val="accent3"/>
                </a:solidFill>
              </a:rPr>
              <a:t>The share of AI answers that name this business.</a:t>
            </a:r>
            <a:endParaRPr lang="en-US" sz="1600" dirty="0"/>
          </a:p>
        </p:txBody>
      </p:sp>
      <p:sp>
        <p:nvSpPr>
          <p:cNvPr id="13" name="Number 3"/>
          <p:cNvSpPr txBox="1"/>
          <p:nvPr/>
        </p:nvSpPr>
        <p:spPr>
          <a:xfrm>
            <a:off x="7680960" y="3410712"/>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14" name="Tour item 3"/>
          <p:cNvSpPr txBox="1"/>
          <p:nvPr/>
        </p:nvSpPr>
        <p:spPr>
          <a:xfrm>
            <a:off x="8229600" y="3392424"/>
            <a:ext cx="3410712" cy="822960"/>
          </a:xfrm>
          <a:prstGeom prst="rect">
            <a:avLst/>
          </a:prstGeom>
          <a:noFill/>
          <a:ln/>
        </p:spPr>
        <p:txBody>
          <a:bodyPr wrap="square" lIns="0" tIns="0" rIns="0" bIns="0" rtlCol="0" anchor="t"/>
          <a:lstStyle/>
          <a:p>
            <a:pPr indent="0" marL="0">
              <a:buNone/>
            </a:pPr>
            <a:r>
              <a:rPr lang="en-US" sz="1600" b="1" dirty="0">
                <a:solidFill>
                  <a:schemeClr val="tx1"/>
                </a:solidFill>
              </a:rPr>
              <a:t>Overheard</a:t>
            </a:r>
            <a:endParaRPr lang="en-US" sz="1600" dirty="0"/>
          </a:p>
          <a:p>
            <a:pPr indent="0" marL="0">
              <a:buNone/>
            </a:pPr>
            <a:r>
              <a:rPr lang="en-US" sz="1400" dirty="0">
                <a:solidFill>
                  <a:schemeClr val="accent3"/>
                </a:solidFill>
              </a:rPr>
              <a:t>Real answers, one at a time. Use the arrows or the keyboard arrow keys.</a:t>
            </a:r>
            <a:endParaRPr lang="en-US" sz="1600" dirty="0"/>
          </a:p>
        </p:txBody>
      </p:sp>
      <p:sp>
        <p:nvSpPr>
          <p:cNvPr id="15" name="Number 4"/>
          <p:cNvSpPr txBox="1"/>
          <p:nvPr/>
        </p:nvSpPr>
        <p:spPr>
          <a:xfrm>
            <a:off x="7680960" y="4306824"/>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16" name="Tour item 4"/>
          <p:cNvSpPr txBox="1"/>
          <p:nvPr/>
        </p:nvSpPr>
        <p:spPr>
          <a:xfrm>
            <a:off x="8229600" y="4288536"/>
            <a:ext cx="3410712" cy="822960"/>
          </a:xfrm>
          <a:prstGeom prst="rect">
            <a:avLst/>
          </a:prstGeom>
          <a:noFill/>
          <a:ln/>
        </p:spPr>
        <p:txBody>
          <a:bodyPr wrap="square" lIns="0" tIns="0" rIns="0" bIns="0" rtlCol="0" anchor="t"/>
          <a:lstStyle/>
          <a:p>
            <a:pPr indent="0" marL="0">
              <a:buNone/>
            </a:pPr>
            <a:r>
              <a:rPr lang="en-US" sz="1600" b="1" dirty="0">
                <a:solidFill>
                  <a:schemeClr val="tx1"/>
                </a:solidFill>
              </a:rPr>
              <a:t>The summary</a:t>
            </a:r>
            <a:endParaRPr lang="en-US" sz="1600" dirty="0"/>
          </a:p>
          <a:p>
            <a:pPr indent="0" marL="0">
              <a:buNone/>
            </a:pPr>
            <a:r>
              <a:rPr lang="en-US" sz="1400" dirty="0">
                <a:solidFill>
                  <a:schemeClr val="accent3"/>
                </a:solidFill>
              </a:rPr>
              <a:t>A sentence written from the data: how often named, and how often wrong.</a:t>
            </a:r>
            <a:endParaRPr lang="en-US" sz="1600" dirty="0"/>
          </a:p>
        </p:txBody>
      </p:sp>
      <p:sp>
        <p:nvSpPr>
          <p:cNvPr id="17" name="Number 5"/>
          <p:cNvSpPr txBox="1"/>
          <p:nvPr/>
        </p:nvSpPr>
        <p:spPr>
          <a:xfrm>
            <a:off x="7680960" y="5202936"/>
            <a:ext cx="365760" cy="365760"/>
          </a:xfrm>
          <a:prstGeom prst="ellipse">
            <a:avLst/>
          </a:prstGeom>
          <a:solidFill>
            <a:schemeClr val="accent1"/>
          </a:solidFill>
          <a:ln/>
        </p:spPr>
        <p:txBody>
          <a:bodyPr wrap="square" lIns="0" tIns="0" rIns="0" bIns="0" rtlCol="0" anchor="ctr"/>
          <a:lstStyle/>
          <a:p>
            <a:pPr algn="ctr" indent="0" marL="0">
              <a:buNone/>
            </a:pPr>
            <a:r>
              <a:rPr lang="en-US" sz="1300" b="1" dirty="0">
                <a:solidFill>
                  <a:schemeClr val="tx1"/>
                </a:solidFill>
              </a:rPr>
              <a:t>5</a:t>
            </a:r>
            <a:endParaRPr lang="en-US" sz="1300" dirty="0"/>
          </a:p>
        </p:txBody>
      </p:sp>
      <p:sp>
        <p:nvSpPr>
          <p:cNvPr id="18" name="Tour item 5"/>
          <p:cNvSpPr txBox="1"/>
          <p:nvPr/>
        </p:nvSpPr>
        <p:spPr>
          <a:xfrm>
            <a:off x="8229600" y="5184648"/>
            <a:ext cx="3410712" cy="822960"/>
          </a:xfrm>
          <a:prstGeom prst="rect">
            <a:avLst/>
          </a:prstGeom>
          <a:noFill/>
          <a:ln/>
        </p:spPr>
        <p:txBody>
          <a:bodyPr wrap="square" lIns="0" tIns="0" rIns="0" bIns="0" rtlCol="0" anchor="t"/>
          <a:lstStyle/>
          <a:p>
            <a:pPr indent="0" marL="0">
              <a:buNone/>
            </a:pPr>
            <a:r>
              <a:rPr lang="en-US" sz="1600" b="1" dirty="0">
                <a:solidFill>
                  <a:schemeClr val="tx1"/>
                </a:solidFill>
              </a:rPr>
              <a:t>Score history</a:t>
            </a:r>
            <a:endParaRPr lang="en-US" sz="1600" dirty="0"/>
          </a:p>
          <a:p>
            <a:pPr indent="0" marL="0">
              <a:buNone/>
            </a:pPr>
            <a:r>
              <a:rPr lang="en-US" sz="1400" dirty="0">
                <a:solidFill>
                  <a:schemeClr val="accent3"/>
                </a:solidFill>
              </a:rPr>
              <a:t>One point per audit, so you can see the line move.</a:t>
            </a:r>
            <a:endParaRPr lang="en-US" sz="16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Step 1: Run the audit</a:t>
            </a:r>
            <a:endParaRPr lang="en-US" sz="3600" dirty="0"/>
          </a:p>
        </p:txBody>
      </p:sp>
      <p:sp>
        <p:nvSpPr>
          <p:cNvPr id="3" name="Guide text"/>
          <p:cNvSpPr txBox="1"/>
          <p:nvPr/>
        </p:nvSpPr>
        <p:spPr>
          <a:xfrm>
            <a:off x="548640" y="1600200"/>
            <a:ext cx="43434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Run it</a:t>
            </a:r>
            <a:endParaRPr lang="en-US" sz="1600" dirty="0"/>
          </a:p>
          <a:p>
            <a:pPr indent="0" marL="0">
              <a:spcAft>
                <a:spcPts val="1400"/>
              </a:spcAft>
              <a:buNone/>
            </a:pPr>
            <a:r>
              <a:rPr lang="en-US" sz="1400" dirty="0">
                <a:solidFill>
                  <a:schemeClr val="accent3"/>
                </a:solidFill>
              </a:rPr>
              <a:t>Press Run the free audit. Once a business has been audited, the button reads Ask the assistants again.</a:t>
            </a:r>
            <a:endParaRPr lang="en-US" sz="1600" dirty="0"/>
          </a:p>
          <a:p>
            <a:pPr indent="0" marL="0">
              <a:spcAft>
                <a:spcPts val="200"/>
              </a:spcAft>
              <a:buNone/>
            </a:pPr>
            <a:r>
              <a:rPr lang="en-US" sz="1600" b="1" dirty="0">
                <a:solidFill>
                  <a:schemeClr val="tx1"/>
                </a:solidFill>
              </a:rPr>
              <a:t>Read the question sheet</a:t>
            </a:r>
            <a:endParaRPr lang="en-US" sz="1600" dirty="0"/>
          </a:p>
          <a:p>
            <a:pPr indent="0" marL="0">
              <a:spcAft>
                <a:spcPts val="1400"/>
              </a:spcAft>
              <a:buNone/>
            </a:pPr>
            <a:r>
              <a:rPr lang="en-US" sz="1400" dirty="0">
                <a:solidFill>
                  <a:schemeClr val="accent3"/>
                </a:solidFill>
              </a:rPr>
              <a:t>Each row is a question a customer might ask. Each column is an assistant.</a:t>
            </a:r>
            <a:endParaRPr lang="en-US" sz="1600" dirty="0"/>
          </a:p>
          <a:p>
            <a:pPr indent="0" marL="0">
              <a:spcAft>
                <a:spcPts val="200"/>
              </a:spcAft>
              <a:buNone/>
            </a:pPr>
            <a:r>
              <a:rPr lang="en-US" sz="1600" b="1" dirty="0">
                <a:solidFill>
                  <a:schemeClr val="tx1"/>
                </a:solidFill>
              </a:rPr>
              <a:t>Open a mark</a:t>
            </a:r>
            <a:endParaRPr lang="en-US" sz="1600" dirty="0"/>
          </a:p>
          <a:p>
            <a:pPr indent="0" marL="0">
              <a:buNone/>
            </a:pPr>
            <a:r>
              <a:rPr lang="en-US" sz="1400" dirty="0">
                <a:solidFill>
                  <a:schemeClr val="accent3"/>
                </a:solidFill>
              </a:rPr>
              <a:t>Select any mark to read the answer and see exactly what was wrong.</a:t>
            </a:r>
            <a:endParaRPr lang="en-US" sz="1600" dirty="0"/>
          </a:p>
        </p:txBody>
      </p:sp>
      <p:pic>
        <p:nvPicPr>
          <p:cNvPr id="4" name="Screenshot: The question sheet with one answer opened, highlighting a wrong opening time" descr="The question sheet with one answer opened, highlighting a wrong opening time">    </p:cNvPr>
          <p:cNvPicPr>
            <a:picLocks noChangeAspect="1"/>
          </p:cNvPicPr>
          <p:nvPr/>
        </p:nvPicPr>
        <p:blipFill>
          <a:blip r:embed="rId1"/>
          <a:stretch>
            <a:fillRect/>
          </a:stretch>
        </p:blipFill>
        <p:spPr>
          <a:xfrm>
            <a:off x="5257800" y="1600200"/>
            <a:ext cx="6400800" cy="3956050"/>
          </a:xfrm>
          <a:prstGeom prst="rect">
            <a:avLst/>
          </a:prstGeom>
          <a:effectLst>
            <a:outerShdw sx="100000" sy="100000" kx="0" ky="0" algn="bl" rotWithShape="0" blurRad="127000" dist="38100" dir="5400000">
              <a:srgbClr val="000000">
                <a:alpha val="16000"/>
              </a:srgbClr>
            </a:outerShdw>
          </a:effectLst>
        </p:spPr>
      </p:pic>
      <p:sp>
        <p:nvSpPr>
          <p:cNvPr id="6" name="Legend: Named"/>
          <p:cNvSpPr/>
          <p:nvPr/>
        </p:nvSpPr>
        <p:spPr>
          <a:xfrm>
            <a:off x="548640" y="5138928"/>
            <a:ext cx="457200" cy="182880"/>
          </a:xfrm>
          <a:prstGeom prst="rect">
            <a:avLst/>
          </a:prstGeom>
          <a:solidFill>
            <a:schemeClr val="accent1"/>
          </a:solidFill>
          <a:ln/>
        </p:spPr>
      </p:sp>
      <p:sp>
        <p:nvSpPr>
          <p:cNvPr id="7" name="Legend text: Named"/>
          <p:cNvSpPr txBox="1"/>
          <p:nvPr/>
        </p:nvSpPr>
        <p:spPr>
          <a:xfrm>
            <a:off x="1234440" y="5074920"/>
            <a:ext cx="3200400" cy="310896"/>
          </a:xfrm>
          <a:prstGeom prst="rect">
            <a:avLst/>
          </a:prstGeom>
          <a:noFill/>
          <a:ln/>
        </p:spPr>
        <p:txBody>
          <a:bodyPr wrap="square" lIns="0" tIns="0" rIns="0" bIns="0" rtlCol="0" anchor="ctr"/>
          <a:lstStyle/>
          <a:p>
            <a:pPr indent="0" marL="0">
              <a:buNone/>
            </a:pPr>
            <a:r>
              <a:rPr lang="en-US" sz="1400" dirty="0">
                <a:solidFill>
                  <a:schemeClr val="tx1"/>
                </a:solidFill>
              </a:rPr>
              <a:t>Named</a:t>
            </a:r>
            <a:endParaRPr lang="en-US" sz="1400" dirty="0"/>
          </a:p>
        </p:txBody>
      </p:sp>
      <p:sp>
        <p:nvSpPr>
          <p:cNvPr id="8" name="Legend: Named, wrong facts"/>
          <p:cNvSpPr/>
          <p:nvPr/>
        </p:nvSpPr>
        <p:spPr>
          <a:xfrm>
            <a:off x="548640" y="5468112"/>
            <a:ext cx="457200" cy="182880"/>
          </a:xfrm>
          <a:prstGeom prst="rect">
            <a:avLst/>
          </a:prstGeom>
          <a:solidFill>
            <a:schemeClr val="accent1"/>
          </a:solidFill>
          <a:ln/>
        </p:spPr>
      </p:sp>
      <p:sp>
        <p:nvSpPr>
          <p:cNvPr id="9" name="Legend ring"/>
          <p:cNvSpPr/>
          <p:nvPr/>
        </p:nvSpPr>
        <p:spPr>
          <a:xfrm>
            <a:off x="512064" y="5431536"/>
            <a:ext cx="530352" cy="256032"/>
          </a:xfrm>
          <a:prstGeom prst="ellipse">
            <a:avLst/>
          </a:prstGeom>
          <a:ln w="19050">
            <a:solidFill>
              <a:schemeClr val="accent2"/>
            </a:solidFill>
            <a:prstDash val="solid"/>
          </a:ln>
        </p:spPr>
      </p:sp>
      <p:sp>
        <p:nvSpPr>
          <p:cNvPr id="10" name="Legend text: Named, wrong facts"/>
          <p:cNvSpPr txBox="1"/>
          <p:nvPr/>
        </p:nvSpPr>
        <p:spPr>
          <a:xfrm>
            <a:off x="1234440" y="5404104"/>
            <a:ext cx="3200400" cy="310896"/>
          </a:xfrm>
          <a:prstGeom prst="rect">
            <a:avLst/>
          </a:prstGeom>
          <a:noFill/>
          <a:ln/>
        </p:spPr>
        <p:txBody>
          <a:bodyPr wrap="square" lIns="0" tIns="0" rIns="0" bIns="0" rtlCol="0" anchor="ctr"/>
          <a:lstStyle/>
          <a:p>
            <a:pPr indent="0" marL="0">
              <a:buNone/>
            </a:pPr>
            <a:r>
              <a:rPr lang="en-US" sz="1400" dirty="0">
                <a:solidFill>
                  <a:schemeClr val="tx1"/>
                </a:solidFill>
              </a:rPr>
              <a:t>Named, wrong facts</a:t>
            </a:r>
            <a:endParaRPr lang="en-US" sz="1400" dirty="0"/>
          </a:p>
        </p:txBody>
      </p:sp>
      <p:sp>
        <p:nvSpPr>
          <p:cNvPr id="11" name="Legend: not named"/>
          <p:cNvSpPr/>
          <p:nvPr/>
        </p:nvSpPr>
        <p:spPr>
          <a:xfrm>
            <a:off x="594360" y="5888736"/>
            <a:ext cx="365760" cy="0"/>
          </a:xfrm>
          <a:prstGeom prst="line">
            <a:avLst/>
          </a:prstGeom>
          <a:noFill/>
          <a:ln w="19050">
            <a:solidFill>
              <a:srgbClr val="4A5260"/>
            </a:solidFill>
            <a:prstDash val="solid"/>
          </a:ln>
        </p:spPr>
      </p:sp>
      <p:sp>
        <p:nvSpPr>
          <p:cNvPr id="12" name="Legend text: Not named"/>
          <p:cNvSpPr txBox="1"/>
          <p:nvPr/>
        </p:nvSpPr>
        <p:spPr>
          <a:xfrm>
            <a:off x="1234440" y="5733288"/>
            <a:ext cx="3200400" cy="310896"/>
          </a:xfrm>
          <a:prstGeom prst="rect">
            <a:avLst/>
          </a:prstGeom>
          <a:noFill/>
          <a:ln/>
        </p:spPr>
        <p:txBody>
          <a:bodyPr wrap="square" lIns="0" tIns="0" rIns="0" bIns="0" rtlCol="0" anchor="ctr"/>
          <a:lstStyle/>
          <a:p>
            <a:pPr indent="0" marL="0">
              <a:buNone/>
            </a:pPr>
            <a:r>
              <a:rPr lang="en-US" sz="1400" dirty="0">
                <a:solidFill>
                  <a:schemeClr val="tx1"/>
                </a:solidFill>
              </a:rPr>
              <a:t>Not named</a:t>
            </a:r>
            <a:endParaRPr lang="en-US" sz="14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Read who they name instead</a:t>
            </a:r>
            <a:endParaRPr lang="en-US" sz="3600" dirty="0"/>
          </a:p>
        </p:txBody>
      </p:sp>
      <p:sp>
        <p:nvSpPr>
          <p:cNvPr id="3" name="Guide text"/>
          <p:cNvSpPr txBox="1"/>
          <p:nvPr/>
        </p:nvSpPr>
        <p:spPr>
          <a:xfrm>
            <a:off x="548640" y="1600200"/>
            <a:ext cx="43434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Share of mentions</a:t>
            </a:r>
            <a:endParaRPr lang="en-US" sz="1600" dirty="0"/>
          </a:p>
          <a:p>
            <a:pPr indent="0" marL="0">
              <a:spcAft>
                <a:spcPts val="1400"/>
              </a:spcAft>
              <a:buNone/>
            </a:pPr>
            <a:r>
              <a:rPr lang="en-US" sz="1400" dirty="0">
                <a:solidFill>
                  <a:schemeClr val="accent3"/>
                </a:solidFill>
              </a:rPr>
              <a:t>The bar shows every business mention across all answers. Your slice is pink.</a:t>
            </a:r>
            <a:endParaRPr lang="en-US" sz="1600" dirty="0"/>
          </a:p>
          <a:p>
            <a:pPr indent="0" marL="0">
              <a:spcAft>
                <a:spcPts val="200"/>
              </a:spcAft>
              <a:buNone/>
            </a:pPr>
            <a:r>
              <a:rPr lang="en-US" sz="1600" b="1" dirty="0">
                <a:solidFill>
                  <a:schemeClr val="tx1"/>
                </a:solidFill>
              </a:rPr>
              <a:t>Tally marks</a:t>
            </a:r>
            <a:endParaRPr lang="en-US" sz="1600" dirty="0"/>
          </a:p>
          <a:p>
            <a:pPr indent="0" marL="0">
              <a:spcAft>
                <a:spcPts val="1400"/>
              </a:spcAft>
              <a:buNone/>
            </a:pPr>
            <a:r>
              <a:rPr lang="en-US" sz="1400" dirty="0">
                <a:solidFill>
                  <a:schemeClr val="accent3"/>
                </a:solidFill>
              </a:rPr>
              <a:t>One stroke each time a business was named, so you can compare yours with each rival.</a:t>
            </a:r>
            <a:endParaRPr lang="en-US" sz="1600" dirty="0"/>
          </a:p>
          <a:p>
            <a:pPr indent="0" marL="0">
              <a:spcAft>
                <a:spcPts val="200"/>
              </a:spcAft>
              <a:buNone/>
            </a:pPr>
            <a:r>
              <a:rPr lang="en-US" sz="1600" b="1" dirty="0">
                <a:solidFill>
                  <a:schemeClr val="tx1"/>
                </a:solidFill>
              </a:rPr>
              <a:t>Rank</a:t>
            </a:r>
            <a:endParaRPr lang="en-US" sz="1600" dirty="0"/>
          </a:p>
          <a:p>
            <a:pPr indent="0" marL="0">
              <a:buNone/>
            </a:pPr>
            <a:r>
              <a:rPr lang="en-US" sz="1400" dirty="0">
                <a:solidFill>
                  <a:schemeClr val="accent3"/>
                </a:solidFill>
              </a:rPr>
              <a:t>Your rank among nearby businesses shows how far there is to climb.</a:t>
            </a:r>
            <a:endParaRPr lang="en-US" sz="1600" dirty="0"/>
          </a:p>
        </p:txBody>
      </p:sp>
      <p:pic>
        <p:nvPicPr>
          <p:cNvPr id="4" name="Screenshot: Share of mentions bar and tally marks per competitor" descr="Share of mentions bar and tally marks per competitor">    </p:cNvPr>
          <p:cNvPicPr>
            <a:picLocks noChangeAspect="1"/>
          </p:cNvPicPr>
          <p:nvPr/>
        </p:nvPicPr>
        <p:blipFill>
          <a:blip r:embed="rId1"/>
          <a:stretch>
            <a:fillRect/>
          </a:stretch>
        </p:blipFill>
        <p:spPr>
          <a:xfrm>
            <a:off x="5257800" y="1600200"/>
            <a:ext cx="6400800" cy="3956050"/>
          </a:xfrm>
          <a:prstGeom prst="rect">
            <a:avLst/>
          </a:prstGeom>
          <a:effectLst>
            <a:outerShdw sx="100000" sy="100000" kx="0" ky="0" algn="bl" rotWithShape="0" blurRad="127000" dist="38100" dir="5400000">
              <a:srgbClr val="000000">
                <a:alpha val="16000"/>
              </a:srgbClr>
            </a:outerShdw>
          </a:effectLst>
        </p:spPr>
      </p:pic>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Step 2: Correct what holds it back</a:t>
            </a:r>
            <a:endParaRPr lang="en-US" sz="3600" dirty="0"/>
          </a:p>
        </p:txBody>
      </p:sp>
      <p:sp>
        <p:nvSpPr>
          <p:cNvPr id="3" name="Guide text"/>
          <p:cNvSpPr txBox="1"/>
          <p:nvPr/>
        </p:nvSpPr>
        <p:spPr>
          <a:xfrm>
            <a:off x="548640" y="1600200"/>
            <a:ext cx="43434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Send review requests</a:t>
            </a:r>
            <a:endParaRPr lang="en-US" sz="1600" dirty="0"/>
          </a:p>
          <a:p>
            <a:pPr indent="0" marL="0">
              <a:spcAft>
                <a:spcPts val="1400"/>
              </a:spcAft>
              <a:buNone/>
            </a:pPr>
            <a:r>
              <a:rPr lang="en-US" sz="1400" dirty="0">
                <a:solidFill>
                  <a:schemeClr val="accent3"/>
                </a:solidFill>
              </a:rPr>
              <a:t>Asks recent customers for reviews. Simulated: it assumes a 30% response.</a:t>
            </a:r>
            <a:endParaRPr lang="en-US" sz="1600" dirty="0"/>
          </a:p>
          <a:p>
            <a:pPr indent="0" marL="0">
              <a:spcAft>
                <a:spcPts val="200"/>
              </a:spcAft>
              <a:buNone/>
            </a:pPr>
            <a:r>
              <a:rPr lang="en-US" sz="1600" b="1" dirty="0">
                <a:solidFill>
                  <a:schemeClr val="tx1"/>
                </a:solidFill>
              </a:rPr>
              <a:t>Fix every listing</a:t>
            </a:r>
            <a:endParaRPr lang="en-US" sz="1600" dirty="0"/>
          </a:p>
          <a:p>
            <a:pPr indent="0" marL="0">
              <a:spcAft>
                <a:spcPts val="1400"/>
              </a:spcAft>
              <a:buNone/>
            </a:pPr>
            <a:r>
              <a:rPr lang="en-US" sz="1400" dirty="0">
                <a:solidFill>
                  <a:schemeClr val="accent3"/>
                </a:solidFill>
              </a:rPr>
              <a:t>Sets one name, address, phone and hours on Google, Yelp and Bing. Simulated.</a:t>
            </a:r>
            <a:endParaRPr lang="en-US" sz="1600" dirty="0"/>
          </a:p>
          <a:p>
            <a:pPr indent="0" marL="0">
              <a:spcAft>
                <a:spcPts val="200"/>
              </a:spcAft>
              <a:buNone/>
            </a:pPr>
            <a:r>
              <a:rPr lang="en-US" sz="1600" b="1" dirty="0">
                <a:solidFill>
                  <a:schemeClr val="tx1"/>
                </a:solidFill>
              </a:rPr>
              <a:t>Publish for agents</a:t>
            </a:r>
            <a:endParaRPr lang="en-US" sz="1600" dirty="0"/>
          </a:p>
          <a:p>
            <a:pPr indent="0" marL="0">
              <a:buNone/>
            </a:pPr>
            <a:r>
              <a:rPr lang="en-US" sz="1400" dirty="0">
                <a:solidFill>
                  <a:schemeClr val="accent3"/>
                </a:solidFill>
              </a:rPr>
              <a:t>Puts the facts online for assistants and agents. This one is real.</a:t>
            </a:r>
            <a:endParaRPr lang="en-US" sz="1600" dirty="0"/>
          </a:p>
        </p:txBody>
      </p:sp>
      <p:pic>
        <p:nvPicPr>
          <p:cNvPr id="4" name="Screenshot: Corrections list with three action buttons" descr="Corrections list with three action buttons">    </p:cNvPr>
          <p:cNvPicPr>
            <a:picLocks noChangeAspect="1"/>
          </p:cNvPicPr>
          <p:nvPr/>
        </p:nvPicPr>
        <p:blipFill>
          <a:blip r:embed="rId1"/>
          <a:stretch>
            <a:fillRect/>
          </a:stretch>
        </p:blipFill>
        <p:spPr>
          <a:xfrm>
            <a:off x="5257800" y="1600200"/>
            <a:ext cx="6400800" cy="3956050"/>
          </a:xfrm>
          <a:prstGeom prst="rect">
            <a:avLst/>
          </a:prstGeom>
          <a:effectLst>
            <a:outerShdw sx="100000" sy="100000" kx="0" ky="0" algn="bl" rotWithShape="0" blurRad="127000" dist="38100" dir="5400000">
              <a:srgbClr val="000000">
                <a:alpha val="16000"/>
              </a:srgbClr>
            </a:outerShdw>
          </a:effectLst>
        </p:spPr>
      </p:pic>
      <p:sp>
        <p:nvSpPr>
          <p:cNvPr id="5" name="Caption"/>
          <p:cNvSpPr txBox="1"/>
          <p:nvPr/>
        </p:nvSpPr>
        <p:spPr>
          <a:xfrm>
            <a:off x="5257800" y="5693410"/>
            <a:ext cx="6400800" cy="320040"/>
          </a:xfrm>
          <a:prstGeom prst="rect">
            <a:avLst/>
          </a:prstGeom>
          <a:noFill/>
          <a:ln/>
        </p:spPr>
        <p:txBody>
          <a:bodyPr wrap="square" lIns="0" tIns="0" rIns="0" bIns="0" rtlCol="0" anchor="ctr"/>
          <a:lstStyle/>
          <a:p>
            <a:pPr indent="0" marL="0">
              <a:buNone/>
            </a:pPr>
            <a:r>
              <a:rPr lang="en-US" sz="1200" dirty="0">
                <a:solidFill>
                  <a:schemeClr val="accent3"/>
                </a:solidFill>
              </a:rPr>
              <a:t>Fixed items are struck through and stamped Corrected.</a:t>
            </a:r>
            <a:endParaRPr lang="en-US" sz="12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Step 3: Publish for agents</a:t>
            </a:r>
            <a:endParaRPr lang="en-US" sz="3600" dirty="0"/>
          </a:p>
        </p:txBody>
      </p:sp>
      <p:sp>
        <p:nvSpPr>
          <p:cNvPr id="3" name="Guide text"/>
          <p:cNvSpPr txBox="1"/>
          <p:nvPr/>
        </p:nvSpPr>
        <p:spPr>
          <a:xfrm>
            <a:off x="548640" y="1600200"/>
            <a:ext cx="43434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Four things go live</a:t>
            </a:r>
            <a:endParaRPr lang="en-US" sz="1600" dirty="0"/>
          </a:p>
          <a:p>
            <a:pPr indent="0" marL="0">
              <a:spcAft>
                <a:spcPts val="1400"/>
              </a:spcAft>
              <a:buNone/>
            </a:pPr>
            <a:r>
              <a:rPr lang="en-US" sz="1400" dirty="0">
                <a:solidFill>
                  <a:schemeClr val="accent3"/>
                </a:solidFill>
              </a:rPr>
              <a:t>llms.txt and schema.json hold the facts. A signed agent card proves they are unaltered. An MCP endpoint answers questions.</a:t>
            </a:r>
            <a:endParaRPr lang="en-US" sz="1600" dirty="0"/>
          </a:p>
          <a:p>
            <a:pPr indent="0" marL="0">
              <a:spcAft>
                <a:spcPts val="200"/>
              </a:spcAft>
              <a:buNone/>
            </a:pPr>
            <a:r>
              <a:rPr lang="en-US" sz="1600" b="1" dirty="0">
                <a:solidFill>
                  <a:schemeClr val="tx1"/>
                </a:solidFill>
              </a:rPr>
              <a:t>Send the agent</a:t>
            </a:r>
            <a:endParaRPr lang="en-US" sz="1600" dirty="0"/>
          </a:p>
          <a:p>
            <a:pPr indent="0" marL="0">
              <a:spcAft>
                <a:spcPts val="1400"/>
              </a:spcAft>
              <a:buNone/>
            </a:pPr>
            <a:r>
              <a:rPr lang="en-US" sz="1400" dirty="0">
                <a:solidFill>
                  <a:schemeClr val="accent3"/>
                </a:solidFill>
              </a:rPr>
              <a:t>It finds the card, checks the signature, then asks for hours, menu and profile.</a:t>
            </a:r>
            <a:endParaRPr lang="en-US" sz="1600" dirty="0"/>
          </a:p>
          <a:p>
            <a:pPr indent="0" marL="0">
              <a:spcAft>
                <a:spcPts val="200"/>
              </a:spcAft>
              <a:buNone/>
            </a:pPr>
            <a:r>
              <a:rPr lang="en-US" sz="1600" b="1" dirty="0">
                <a:solidFill>
                  <a:schemeClr val="tx1"/>
                </a:solidFill>
              </a:rPr>
              <a:t>Before publishing</a:t>
            </a:r>
            <a:endParaRPr lang="en-US" sz="1600" dirty="0"/>
          </a:p>
          <a:p>
            <a:pPr indent="0" marL="0">
              <a:buNone/>
            </a:pPr>
            <a:r>
              <a:rPr lang="en-US" sz="1400" dirty="0">
                <a:solidFill>
                  <a:schemeClr val="accent3"/>
                </a:solidFill>
              </a:rPr>
              <a:t>The same test fails: the agent falls back to old listings and may quote the wrong closing time.</a:t>
            </a:r>
            <a:endParaRPr lang="en-US" sz="1600" dirty="0"/>
          </a:p>
        </p:txBody>
      </p:sp>
      <p:pic>
        <p:nvPicPr>
          <p:cNvPr id="4" name="Screenshot: Published llms.txt beside the agent console transcript" descr="Published llms.txt beside the agent console transcript">    </p:cNvPr>
          <p:cNvPicPr>
            <a:picLocks noChangeAspect="1"/>
          </p:cNvPicPr>
          <p:nvPr/>
        </p:nvPicPr>
        <p:blipFill>
          <a:blip r:embed="rId1"/>
          <a:stretch>
            <a:fillRect/>
          </a:stretch>
        </p:blipFill>
        <p:spPr>
          <a:xfrm>
            <a:off x="5257800" y="1600200"/>
            <a:ext cx="6400800" cy="3956050"/>
          </a:xfrm>
          <a:prstGeom prst="rect">
            <a:avLst/>
          </a:prstGeom>
          <a:effectLst>
            <a:outerShdw sx="100000" sy="100000" kx="0" ky="0" algn="bl" rotWithShape="0" blurRad="127000" dist="38100" dir="5400000">
              <a:srgbClr val="000000">
                <a:alpha val="16000"/>
              </a:srgbClr>
            </a:outerShdw>
          </a:effectLst>
        </p:spPr>
      </p:pic>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Re-audit and see the change</a:t>
            </a:r>
            <a:endParaRPr lang="en-US" sz="3600" dirty="0"/>
          </a:p>
        </p:txBody>
      </p:sp>
      <p:sp>
        <p:nvSpPr>
          <p:cNvPr id="3" name="Guide text"/>
          <p:cNvSpPr txBox="1"/>
          <p:nvPr/>
        </p:nvSpPr>
        <p:spPr>
          <a:xfrm>
            <a:off x="548640" y="1600200"/>
            <a:ext cx="43434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Ask again</a:t>
            </a:r>
            <a:endParaRPr lang="en-US" sz="1600" dirty="0"/>
          </a:p>
          <a:p>
            <a:pPr indent="0" marL="0">
              <a:spcAft>
                <a:spcPts val="1400"/>
              </a:spcAft>
              <a:buNone/>
            </a:pPr>
            <a:r>
              <a:rPr lang="en-US" sz="1400" dirty="0">
                <a:solidFill>
                  <a:schemeClr val="accent3"/>
                </a:solidFill>
              </a:rPr>
              <a:t>Same questions, same assistants, so the two audits are comparable.</a:t>
            </a:r>
            <a:endParaRPr lang="en-US" sz="1600" dirty="0"/>
          </a:p>
          <a:p>
            <a:pPr indent="0" marL="0">
              <a:spcAft>
                <a:spcPts val="200"/>
              </a:spcAft>
              <a:buNone/>
            </a:pPr>
            <a:r>
              <a:rPr lang="en-US" sz="1600" b="1" dirty="0">
                <a:solidFill>
                  <a:schemeClr val="tx1"/>
                </a:solidFill>
              </a:rPr>
              <a:t>Read the change</a:t>
            </a:r>
            <a:endParaRPr lang="en-US" sz="1600" dirty="0"/>
          </a:p>
          <a:p>
            <a:pPr indent="0" marL="0">
              <a:spcAft>
                <a:spcPts val="1400"/>
              </a:spcAft>
              <a:buNone/>
            </a:pPr>
            <a:r>
              <a:rPr lang="en-US" sz="1400" dirty="0">
                <a:solidFill>
                  <a:schemeClr val="accent3"/>
                </a:solidFill>
              </a:rPr>
              <a:t>The front page shows the new score and the change since the first audit. The line under the number shows every audit.</a:t>
            </a:r>
            <a:endParaRPr lang="en-US" sz="1600" dirty="0"/>
          </a:p>
          <a:p>
            <a:pPr indent="0" marL="0">
              <a:spcAft>
                <a:spcPts val="200"/>
              </a:spcAft>
              <a:buNone/>
            </a:pPr>
            <a:r>
              <a:rPr lang="en-US" sz="1600" b="1" dirty="0">
                <a:solidFill>
                  <a:schemeClr val="tx1"/>
                </a:solidFill>
              </a:rPr>
              <a:t>Keep going</a:t>
            </a:r>
            <a:endParaRPr lang="en-US" sz="1600" dirty="0"/>
          </a:p>
          <a:p>
            <a:pPr indent="0" marL="0">
              <a:buNone/>
            </a:pPr>
            <a:r>
              <a:rPr lang="en-US" sz="1400" dirty="0">
                <a:solidFill>
                  <a:schemeClr val="accent3"/>
                </a:solidFill>
              </a:rPr>
              <a:t>Re-audit monthly, or on the server set REAUDIT_INTERVAL_HOURS to repeat on a schedule.</a:t>
            </a:r>
            <a:endParaRPr lang="en-US" sz="1600" dirty="0"/>
          </a:p>
        </p:txBody>
      </p:sp>
      <p:pic>
        <p:nvPicPr>
          <p:cNvPr id="4" name="Screenshot: Sidra's score after fixes: 56%, up 47 points" descr="Sidra's score after fixes: 56%, up 47 points">    </p:cNvPr>
          <p:cNvPicPr>
            <a:picLocks noChangeAspect="1"/>
          </p:cNvPicPr>
          <p:nvPr/>
        </p:nvPicPr>
        <p:blipFill>
          <a:blip r:embed="rId1"/>
          <a:stretch>
            <a:fillRect/>
          </a:stretch>
        </p:blipFill>
        <p:spPr>
          <a:xfrm>
            <a:off x="5257800" y="1600200"/>
            <a:ext cx="6400800" cy="3956050"/>
          </a:xfrm>
          <a:prstGeom prst="rect">
            <a:avLst/>
          </a:prstGeom>
          <a:effectLst>
            <a:outerShdw sx="100000" sy="100000" kx="0" ky="0" algn="bl" rotWithShape="0" blurRad="127000" dist="38100" dir="5400000">
              <a:srgbClr val="000000">
                <a:alpha val="16000"/>
              </a:srgbClr>
            </a:outerShdw>
          </a:effectLst>
        </p:spPr>
      </p:pic>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The District Report</a:t>
            </a:r>
            <a:endParaRPr lang="en-US" sz="3600" dirty="0"/>
          </a:p>
        </p:txBody>
      </p:sp>
      <p:sp>
        <p:nvSpPr>
          <p:cNvPr id="3" name="Guide text"/>
          <p:cNvSpPr txBox="1"/>
          <p:nvPr/>
        </p:nvSpPr>
        <p:spPr>
          <a:xfrm>
            <a:off x="548640" y="1600200"/>
            <a:ext cx="43434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The gate</a:t>
            </a:r>
            <a:endParaRPr lang="en-US" sz="1600" dirty="0"/>
          </a:p>
          <a:p>
            <a:pPr indent="0" marL="0">
              <a:spcAft>
                <a:spcPts val="1400"/>
              </a:spcAft>
              <a:buNone/>
            </a:pPr>
            <a:r>
              <a:rPr lang="en-US" sz="1400" dirty="0">
                <a:solidFill>
                  <a:schemeClr val="accent3"/>
                </a:solidFill>
              </a:rPr>
              <a:t>Visibility up 30% or more for at least half of the businesses.</a:t>
            </a:r>
            <a:endParaRPr lang="en-US" sz="1600" dirty="0"/>
          </a:p>
          <a:p>
            <a:pPr indent="0" marL="0">
              <a:spcAft>
                <a:spcPts val="200"/>
              </a:spcAft>
              <a:buNone/>
            </a:pPr>
            <a:r>
              <a:rPr lang="en-US" sz="1600" b="1" dirty="0">
                <a:solidFill>
                  <a:schemeClr val="tx1"/>
                </a:solidFill>
              </a:rPr>
              <a:t>Before and after</a:t>
            </a:r>
            <a:endParaRPr lang="en-US" sz="1600" dirty="0"/>
          </a:p>
          <a:p>
            <a:pPr indent="0" marL="0">
              <a:spcAft>
                <a:spcPts val="1400"/>
              </a:spcAft>
              <a:buNone/>
            </a:pPr>
            <a:r>
              <a:rPr lang="en-US" sz="1400" dirty="0">
                <a:solidFill>
                  <a:schemeClr val="accent3"/>
                </a:solidFill>
              </a:rPr>
              <a:t>Each line runs from baseline to the latest audit. Pink lines met the gate; grey ones have not yet.</a:t>
            </a:r>
            <a:endParaRPr lang="en-US" sz="1600" dirty="0"/>
          </a:p>
          <a:p>
            <a:pPr indent="0" marL="0">
              <a:spcAft>
                <a:spcPts val="200"/>
              </a:spcAft>
              <a:buNone/>
            </a:pPr>
            <a:r>
              <a:rPr lang="en-US" sz="1600" b="1" dirty="0">
                <a:solidFill>
                  <a:schemeClr val="tx1"/>
                </a:solidFill>
              </a:rPr>
              <a:t>Roll-ups</a:t>
            </a:r>
            <a:endParaRPr lang="en-US" sz="1600" dirty="0"/>
          </a:p>
          <a:p>
            <a:pPr indent="0" marL="0">
              <a:spcAft>
                <a:spcPts val="1400"/>
              </a:spcAft>
              <a:buNone/>
            </a:pPr>
            <a:r>
              <a:rPr lang="en-US" sz="1400" dirty="0">
                <a:solidFill>
                  <a:schemeClr val="accent3"/>
                </a:solidFill>
              </a:rPr>
              <a:t>Tables below break results down by sector and district.</a:t>
            </a:r>
            <a:endParaRPr lang="en-US" sz="1600" dirty="0"/>
          </a:p>
          <a:p>
            <a:pPr indent="0" marL="0">
              <a:spcAft>
                <a:spcPts val="200"/>
              </a:spcAft>
              <a:buNone/>
            </a:pPr>
            <a:r>
              <a:rPr lang="en-US" sz="1600" b="1" dirty="0">
                <a:solidFill>
                  <a:schemeClr val="tx1"/>
                </a:solidFill>
              </a:rPr>
              <a:t>Re-audit every business</a:t>
            </a:r>
            <a:endParaRPr lang="en-US" sz="1600" dirty="0"/>
          </a:p>
          <a:p>
            <a:pPr indent="0" marL="0">
              <a:buNone/>
            </a:pPr>
            <a:r>
              <a:rPr lang="en-US" sz="1400" dirty="0">
                <a:solidFill>
                  <a:schemeClr val="accent3"/>
                </a:solidFill>
              </a:rPr>
              <a:t>One button on the report repeats every audit.</a:t>
            </a:r>
            <a:endParaRPr lang="en-US" sz="1600" dirty="0"/>
          </a:p>
        </p:txBody>
      </p:sp>
      <p:pic>
        <p:nvPicPr>
          <p:cNvPr id="4" name="Screenshot: Before and after chart with lines from baseline to latest audit for each business" descr="Before and after chart with lines from baseline to latest audit for each business">    </p:cNvPr>
          <p:cNvPicPr>
            <a:picLocks noChangeAspect="1"/>
          </p:cNvPicPr>
          <p:nvPr/>
        </p:nvPicPr>
        <p:blipFill>
          <a:blip r:embed="rId1"/>
          <a:stretch>
            <a:fillRect/>
          </a:stretch>
        </p:blipFill>
        <p:spPr>
          <a:xfrm>
            <a:off x="5257800" y="1600200"/>
            <a:ext cx="6400800" cy="3956050"/>
          </a:xfrm>
          <a:prstGeom prst="rect">
            <a:avLst/>
          </a:prstGeom>
          <a:effectLst>
            <a:outerShdw sx="100000" sy="100000" kx="0" ky="0" algn="bl" rotWithShape="0" blurRad="127000" dist="38100" dir="5400000">
              <a:srgbClr val="000000">
                <a:alpha val="16000"/>
              </a:srgbClr>
            </a:outerShdw>
          </a:effectLst>
        </p:spPr>
      </p:pic>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File a new business</a:t>
            </a:r>
            <a:endParaRPr lang="en-US" sz="3600" dirty="0"/>
          </a:p>
        </p:txBody>
      </p:sp>
      <p:sp>
        <p:nvSpPr>
          <p:cNvPr id="3" name="Guide text"/>
          <p:cNvSpPr txBox="1"/>
          <p:nvPr/>
        </p:nvSpPr>
        <p:spPr>
          <a:xfrm>
            <a:off x="548640" y="1600200"/>
            <a:ext cx="43434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Required</a:t>
            </a:r>
            <a:endParaRPr lang="en-US" sz="1600" dirty="0"/>
          </a:p>
          <a:p>
            <a:pPr indent="0" marL="0">
              <a:spcAft>
                <a:spcPts val="1400"/>
              </a:spcAft>
              <a:buNone/>
            </a:pPr>
            <a:r>
              <a:rPr lang="en-US" sz="1400" dirty="0">
                <a:solidFill>
                  <a:schemeClr val="accent3"/>
                </a:solidFill>
              </a:rPr>
              <a:t>Business name, category and city. Choose a sector so it appears in the sector roll-up.</a:t>
            </a:r>
            <a:endParaRPr lang="en-US" sz="1600" dirty="0"/>
          </a:p>
          <a:p>
            <a:pPr indent="0" marL="0">
              <a:spcAft>
                <a:spcPts val="200"/>
              </a:spcAft>
              <a:buNone/>
            </a:pPr>
            <a:r>
              <a:rPr lang="en-US" sz="1600" b="1" dirty="0">
                <a:solidFill>
                  <a:schemeClr val="tx1"/>
                </a:solidFill>
              </a:rPr>
              <a:t>Opening hours</a:t>
            </a:r>
            <a:endParaRPr lang="en-US" sz="1600" dirty="0"/>
          </a:p>
          <a:p>
            <a:pPr indent="0" marL="0">
              <a:spcAft>
                <a:spcPts val="1400"/>
              </a:spcAft>
              <a:buNone/>
            </a:pPr>
            <a:r>
              <a:rPr lang="en-US" sz="1400" dirty="0">
                <a:solidFill>
                  <a:schemeClr val="accent3"/>
                </a:solidFill>
              </a:rPr>
              <a:t>Use schema.org format, for example Mo-Su 07:00-23:00, or Mo-Th 09:00-21:00; Fr 14:00-22:00. The audit checks hours stated by assistants against these.</a:t>
            </a:r>
            <a:endParaRPr lang="en-US" sz="1600" dirty="0"/>
          </a:p>
          <a:p>
            <a:pPr indent="0" marL="0">
              <a:spcAft>
                <a:spcPts val="200"/>
              </a:spcAft>
              <a:buNone/>
            </a:pPr>
            <a:r>
              <a:rPr lang="en-US" sz="1600" b="1" dirty="0">
                <a:solidFill>
                  <a:schemeClr val="tx1"/>
                </a:solidFill>
              </a:rPr>
              <a:t>Competitors</a:t>
            </a:r>
            <a:endParaRPr lang="en-US" sz="1600" dirty="0"/>
          </a:p>
          <a:p>
            <a:pPr indent="0" marL="0">
              <a:spcAft>
                <a:spcPts val="1400"/>
              </a:spcAft>
              <a:buNone/>
            </a:pPr>
            <a:r>
              <a:rPr lang="en-US" sz="1400" dirty="0">
                <a:solidFill>
                  <a:schemeClr val="accent3"/>
                </a:solidFill>
              </a:rPr>
              <a:t>Name nearby rivals, separated by commas. They are tracked in every answer.</a:t>
            </a:r>
            <a:endParaRPr lang="en-US" sz="1600" dirty="0"/>
          </a:p>
          <a:p>
            <a:pPr indent="0" marL="0">
              <a:spcAft>
                <a:spcPts val="200"/>
              </a:spcAft>
              <a:buNone/>
            </a:pPr>
            <a:r>
              <a:rPr lang="en-US" sz="1600" b="1" dirty="0">
                <a:solidFill>
                  <a:schemeClr val="tx1"/>
                </a:solidFill>
              </a:rPr>
              <a:t>File and audit</a:t>
            </a:r>
            <a:endParaRPr lang="en-US" sz="1600" dirty="0"/>
          </a:p>
          <a:p>
            <a:pPr indent="0" marL="0">
              <a:buNone/>
            </a:pPr>
            <a:r>
              <a:rPr lang="en-US" sz="1400" dirty="0">
                <a:solidFill>
                  <a:schemeClr val="accent3"/>
                </a:solidFill>
              </a:rPr>
              <a:t>Creates the business and runs its first audit.</a:t>
            </a:r>
            <a:endParaRPr lang="en-US" sz="1600" dirty="0"/>
          </a:p>
        </p:txBody>
      </p:sp>
      <p:pic>
        <p:nvPicPr>
          <p:cNvPr id="4" name="Screenshot: The File a business form filled in for a padel club" descr="The File a business form filled in for a padel club">    </p:cNvPr>
          <p:cNvPicPr>
            <a:picLocks noChangeAspect="1"/>
          </p:cNvPicPr>
          <p:nvPr/>
        </p:nvPicPr>
        <p:blipFill>
          <a:blip r:embed="rId1"/>
          <a:stretch>
            <a:fillRect/>
          </a:stretch>
        </p:blipFill>
        <p:spPr>
          <a:xfrm>
            <a:off x="6675120" y="1600200"/>
            <a:ext cx="3657600" cy="4509729"/>
          </a:xfrm>
          <a:prstGeom prst="rect">
            <a:avLst/>
          </a:prstGeom>
          <a:effectLst>
            <a:outerShdw sx="100000" sy="100000" kx="0" ky="0" algn="bl" rotWithShape="0" blurRad="127000" dist="38100" dir="5400000">
              <a:srgbClr val="000000">
                <a:alpha val="16000"/>
              </a:srgbClr>
            </a:outerShdw>
          </a:effectLst>
        </p:spPr>
      </p:pic>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Phone, tablet and dark mode</a:t>
            </a:r>
            <a:endParaRPr lang="en-US" sz="3600" dirty="0"/>
          </a:p>
        </p:txBody>
      </p:sp>
      <p:sp>
        <p:nvSpPr>
          <p:cNvPr id="3" name="Guide text"/>
          <p:cNvSpPr txBox="1"/>
          <p:nvPr/>
        </p:nvSpPr>
        <p:spPr>
          <a:xfrm>
            <a:off x="548640" y="1600200"/>
            <a:ext cx="3657600" cy="44805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rPr>
              <a:t>Phone</a:t>
            </a:r>
            <a:endParaRPr lang="en-US" sz="1600" dirty="0"/>
          </a:p>
          <a:p>
            <a:pPr indent="0" marL="0">
              <a:spcAft>
                <a:spcPts val="1400"/>
              </a:spcAft>
              <a:buNone/>
            </a:pPr>
            <a:r>
              <a:rPr lang="en-US" sz="1400" dirty="0">
                <a:solidFill>
                  <a:schemeClr val="accent3"/>
                </a:solidFill>
              </a:rPr>
              <a:t>The index becomes a swipeable strip and the question sheet becomes a list.</a:t>
            </a:r>
            <a:endParaRPr lang="en-US" sz="1600" dirty="0"/>
          </a:p>
          <a:p>
            <a:pPr indent="0" marL="0">
              <a:spcAft>
                <a:spcPts val="200"/>
              </a:spcAft>
              <a:buNone/>
            </a:pPr>
            <a:r>
              <a:rPr lang="en-US" sz="1600" b="1" dirty="0">
                <a:solidFill>
                  <a:schemeClr val="tx1"/>
                </a:solidFill>
              </a:rPr>
              <a:t>Tablet</a:t>
            </a:r>
            <a:endParaRPr lang="en-US" sz="1600" dirty="0"/>
          </a:p>
          <a:p>
            <a:pPr indent="0" marL="0">
              <a:spcAft>
                <a:spcPts val="1400"/>
              </a:spcAft>
              <a:buNone/>
            </a:pPr>
            <a:r>
              <a:rPr lang="en-US" sz="1400" dirty="0">
                <a:solidFill>
                  <a:schemeClr val="accent3"/>
                </a:solidFill>
              </a:rPr>
              <a:t>Two-column sections stack into one.</a:t>
            </a:r>
            <a:endParaRPr lang="en-US" sz="1600" dirty="0"/>
          </a:p>
          <a:p>
            <a:pPr indent="0" marL="0">
              <a:spcAft>
                <a:spcPts val="200"/>
              </a:spcAft>
              <a:buNone/>
            </a:pPr>
            <a:r>
              <a:rPr lang="en-US" sz="1600" b="1" dirty="0">
                <a:solidFill>
                  <a:schemeClr val="tx1"/>
                </a:solidFill>
              </a:rPr>
              <a:t>Dark mode</a:t>
            </a:r>
            <a:endParaRPr lang="en-US" sz="1600" dirty="0"/>
          </a:p>
          <a:p>
            <a:pPr indent="0" marL="0">
              <a:buNone/>
            </a:pPr>
            <a:r>
              <a:rPr lang="en-US" sz="1400" dirty="0">
                <a:solidFill>
                  <a:schemeClr val="accent3"/>
                </a:solidFill>
              </a:rPr>
              <a:t>Follows your device setting. Marks and ink keep their meaning.</a:t>
            </a:r>
            <a:endParaRPr lang="en-US" sz="1600" dirty="0"/>
          </a:p>
        </p:txBody>
      </p:sp>
      <p:pic>
        <p:nvPicPr>
          <p:cNvPr id="4" name="Screenshot: phone" descr="The Desk on a phone">    </p:cNvPr>
          <p:cNvPicPr>
            <a:picLocks noChangeAspect="1"/>
          </p:cNvPicPr>
          <p:nvPr/>
        </p:nvPicPr>
        <p:blipFill>
          <a:blip r:embed="rId1"/>
          <a:stretch>
            <a:fillRect/>
          </a:stretch>
        </p:blipFill>
        <p:spPr>
          <a:xfrm>
            <a:off x="4480560" y="1600200"/>
            <a:ext cx="2070401" cy="4480560"/>
          </a:xfrm>
          <a:prstGeom prst="rect">
            <a:avLst/>
          </a:prstGeom>
          <a:effectLst>
            <a:outerShdw sx="100000" sy="100000" kx="0" ky="0" algn="bl" rotWithShape="0" blurRad="127000" dist="38100" dir="5400000">
              <a:srgbClr val="000000">
                <a:alpha val="16000"/>
              </a:srgbClr>
            </a:outerShdw>
          </a:effectLst>
        </p:spPr>
      </p:pic>
      <p:pic>
        <p:nvPicPr>
          <p:cNvPr id="5" name="Screenshot: The Desk in dark mode for Ironbark Strength Club" descr="The Desk in dark mode for Ironbark Strength Club">    </p:cNvPr>
          <p:cNvPicPr>
            <a:picLocks noChangeAspect="1"/>
          </p:cNvPicPr>
          <p:nvPr/>
        </p:nvPicPr>
        <p:blipFill>
          <a:blip r:embed="rId2"/>
          <a:stretch>
            <a:fillRect/>
          </a:stretch>
        </p:blipFill>
        <p:spPr>
          <a:xfrm>
            <a:off x="6871001" y="1600200"/>
            <a:ext cx="4769311" cy="2947699"/>
          </a:xfrm>
          <a:prstGeom prst="rect">
            <a:avLst/>
          </a:prstGeom>
          <a:effectLst>
            <a:outerShdw sx="100000" sy="100000" kx="0" ky="0" algn="bl" rotWithShape="0" blurRad="127000" dist="38100" dir="5400000">
              <a:srgbClr val="000000">
                <a:alpha val="16000"/>
              </a:srgbClr>
            </a:outerShdw>
          </a:effectLst>
        </p:spPr>
      </p:pic>
      <p:sp>
        <p:nvSpPr>
          <p:cNvPr id="6" name="Caption"/>
          <p:cNvSpPr txBox="1"/>
          <p:nvPr/>
        </p:nvSpPr>
        <p:spPr>
          <a:xfrm>
            <a:off x="6871001" y="4685059"/>
            <a:ext cx="4769311" cy="320040"/>
          </a:xfrm>
          <a:prstGeom prst="rect">
            <a:avLst/>
          </a:prstGeom>
          <a:noFill/>
          <a:ln/>
        </p:spPr>
        <p:txBody>
          <a:bodyPr wrap="square" lIns="0" tIns="0" rIns="0" bIns="0" rtlCol="0" anchor="ctr"/>
          <a:lstStyle/>
          <a:p>
            <a:pPr indent="0" marL="0">
              <a:buNone/>
            </a:pPr>
            <a:r>
              <a:rPr lang="en-US" sz="1200" dirty="0">
                <a:solidFill>
                  <a:schemeClr val="accent3"/>
                </a:solidFill>
              </a:rPr>
              <a:t>Dark mode, Ironbark Strength Club at 69%</a:t>
            </a:r>
            <a:endParaRPr lang="en-US" sz="12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Run the server edition</a:t>
            </a:r>
            <a:endParaRPr lang="en-US" sz="3600" dirty="0"/>
          </a:p>
        </p:txBody>
      </p:sp>
      <p:sp>
        <p:nvSpPr>
          <p:cNvPr id="3" name="Terminal"/>
          <p:cNvSpPr/>
          <p:nvPr/>
        </p:nvSpPr>
        <p:spPr>
          <a:xfrm>
            <a:off x="548640" y="1600200"/>
            <a:ext cx="6309360" cy="3566160"/>
          </a:xfrm>
          <a:prstGeom prst="roundRect">
            <a:avLst>
              <a:gd name="adj" fmla="val 2051"/>
            </a:avLst>
          </a:prstGeom>
          <a:solidFill>
            <a:schemeClr val="tx1"/>
          </a:solidFill>
          <a:ln/>
        </p:spPr>
      </p:sp>
      <p:sp>
        <p:nvSpPr>
          <p:cNvPr id="4" name="Commands"/>
          <p:cNvSpPr txBox="1"/>
          <p:nvPr/>
        </p:nvSpPr>
        <p:spPr>
          <a:xfrm>
            <a:off x="822960" y="1783080"/>
            <a:ext cx="5760720" cy="3200400"/>
          </a:xfrm>
          <a:prstGeom prst="rect">
            <a:avLst/>
          </a:prstGeom>
          <a:noFill/>
          <a:ln/>
        </p:spPr>
        <p:txBody>
          <a:bodyPr wrap="square" lIns="0" tIns="0" rIns="0" bIns="0" rtlCol="0" anchor="t"/>
          <a:lstStyle/>
          <a:p>
            <a:pPr indent="0" marL="0">
              <a:buNone/>
            </a:pPr>
            <a:r>
              <a:rPr lang="en-US" sz="1600" dirty="0">
                <a:solidFill>
                  <a:schemeClr val="accent6"/>
                </a:solidFill>
                <a:latin typeface="Courier New" pitchFamily="34" charset="0"/>
                <a:ea typeface="Courier New" pitchFamily="34" charset="-122"/>
                <a:cs typeface="Courier New" pitchFamily="34" charset="-120"/>
              </a:rPr>
              <a:t># install and load the demo data</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npm install</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npm run seed</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accent6"/>
                </a:solidFill>
                <a:latin typeface="Courier New" pitchFamily="34" charset="0"/>
                <a:ea typeface="Courier New" pitchFamily="34" charset="-122"/>
                <a:cs typeface="Courier New" pitchFamily="34" charset="-120"/>
              </a:rPr>
              <a:t># optional: real Claude answers</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ANTHROPIC_API_KEY=sk-ant-... npm start</a:t>
            </a:r>
            <a:endParaRPr lang="en-US" sz="1600" dirty="0"/>
          </a:p>
          <a:p>
            <a:pPr indent="0" marL="0">
              <a:buNone/>
            </a:pPr>
            <a:r>
              <a:rPr lang="en-US" sz="1600" dirty="0">
                <a:solidFill>
                  <a:schemeClr val="accent6"/>
                </a:solidFill>
                <a:latin typeface="Courier New" pitchFamily="34" charset="0"/>
                <a:ea typeface="Courier New" pitchFamily="34" charset="-122"/>
                <a:cs typeface="Courier New" pitchFamily="34" charset="-120"/>
              </a:rPr>
              <a:t># then open http://localhost:3000</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chemeClr val="accent6"/>
                </a:solidFill>
                <a:latin typeface="Courier New" pitchFamily="34" charset="0"/>
                <a:ea typeface="Courier New" pitchFamily="34" charset="-122"/>
                <a:cs typeface="Courier New" pitchFamily="34" charset="-120"/>
              </a:rPr>
              <a:t># send an agent at a business</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npm run demo:agent -- ironbark-strength</a:t>
            </a:r>
            <a:endParaRPr lang="en-US" sz="1600" dirty="0"/>
          </a:p>
          <a:p>
            <a:pPr indent="0" marL="0">
              <a:buNone/>
            </a:pPr>
            <a:r>
              <a:rPr lang="en-US" sz="1600" dirty="0">
                <a:solidFill>
                  <a:schemeClr val="bg1"/>
                </a:solidFill>
                <a:latin typeface="Courier New" pitchFamily="34" charset="0"/>
                <a:ea typeface="Courier New" pitchFamily="34" charset="-122"/>
                <a:cs typeface="Courier New" pitchFamily="34" charset="-120"/>
              </a:rPr>
              <a:t>npm test</a:t>
            </a:r>
            <a:endParaRPr lang="en-US" sz="1600" dirty="0"/>
          </a:p>
        </p:txBody>
      </p:sp>
      <p:sp>
        <p:nvSpPr>
          <p:cNvPr id="5" name="Requirement"/>
          <p:cNvSpPr txBox="1"/>
          <p:nvPr/>
        </p:nvSpPr>
        <p:spPr>
          <a:xfrm>
            <a:off x="548640" y="5349240"/>
            <a:ext cx="6309360" cy="365760"/>
          </a:xfrm>
          <a:prstGeom prst="rect">
            <a:avLst/>
          </a:prstGeom>
          <a:noFill/>
          <a:ln/>
        </p:spPr>
        <p:txBody>
          <a:bodyPr wrap="square" lIns="0" tIns="0" rIns="0" bIns="0" rtlCol="0" anchor="ctr"/>
          <a:lstStyle/>
          <a:p>
            <a:pPr indent="0" marL="0">
              <a:buNone/>
            </a:pPr>
            <a:r>
              <a:rPr lang="en-US" sz="1600" dirty="0">
                <a:solidFill>
                  <a:schemeClr val="tx1"/>
                </a:solidFill>
              </a:rPr>
              <a:t>Needs Node 20 or newer.</a:t>
            </a:r>
            <a:endParaRPr lang="en-US" sz="1600" dirty="0"/>
          </a:p>
        </p:txBody>
      </p:sp>
      <p:graphicFrame>
        <p:nvGraphicFramePr>
          <p:cNvPr id="15" name="Configuration"/>
          <p:cNvGraphicFramePr>
            <a:graphicFrameLocks noGrp="1"/>
          </p:cNvGraphicFramePr>
          <p:nvPr>
            <p:extLst>
              <p:ext uri="{D42A27DB-BD31-4B8C-83A1-F6EECF244321}">
                <p14:modId xmlns:p14="http://schemas.microsoft.com/office/powerpoint/2010/main" val="1579011935"/>
              </p:ext>
            </p:extLst>
          </p:nvPr>
        </p:nvGraphicFramePr>
        <p:xfrm>
          <a:off x="7132320" y="1600200"/>
          <a:ext cx="4507992" cy="914400"/>
        </p:xfrm>
        <a:graphic>
          <a:graphicData uri="http://schemas.openxmlformats.org/drawingml/2006/table">
            <a:tbl>
              <a:tblPr/>
              <a:tblGrid>
                <a:gridCol w="2240280"/>
                <a:gridCol w="2267712"/>
              </a:tblGrid>
              <a:tr h="0">
                <a:tc>
                  <a:txBody>
                    <a:bodyPr/>
                    <a:lstStyle/>
                    <a:p>
                      <a:pPr indent="0" marL="0">
                        <a:buNone/>
                      </a:pPr>
                      <a:r>
                        <a:rPr lang="en-US" sz="1400" b="1" dirty="0">
                          <a:solidFill>
                            <a:schemeClr val="bg1"/>
                          </a:solidFill>
                        </a:rPr>
                        <a:t>Variable</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What it does</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tx1"/>
                    </a:solidFill>
                  </a:tcPr>
                </a:tc>
              </a:tr>
              <a:tr h="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PORT</a:t>
                      </a:r>
                      <a:endParaRPr lang="en-US" sz="1200" dirty="0">
                        <a:latin typeface="Courier New" charset="0"/>
                        <a:ea typeface="Courier New" charset="0"/>
                        <a:cs typeface="Courier New" charset="0"/>
                      </a:endParaRPr>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HTTP port (3000)</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BASE_URL</a:t>
                      </a:r>
                      <a:endParaRPr lang="en-US" sz="1200" dirty="0">
                        <a:latin typeface="Courier New" charset="0"/>
                        <a:ea typeface="Courier New" charset="0"/>
                        <a:cs typeface="Courier New" charset="0"/>
                      </a:endParaRPr>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Public URL written into published files</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DATA_FILE</a:t>
                      </a:r>
                      <a:endParaRPr lang="en-US" sz="1200" dirty="0">
                        <a:latin typeface="Courier New" charset="0"/>
                        <a:ea typeface="Courier New" charset="0"/>
                        <a:cs typeface="Courier New" charset="0"/>
                      </a:endParaRPr>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Where state is saved</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ANTHROPIC_API_KEY</a:t>
                      </a:r>
                      <a:endParaRPr lang="en-US" sz="1200" dirty="0">
                        <a:latin typeface="Courier New" charset="0"/>
                        <a:ea typeface="Courier New" charset="0"/>
                        <a:cs typeface="Courier New" charset="0"/>
                      </a:endParaRPr>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Turns on real Claude answers</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VIBEMONEY_MODEL</a:t>
                      </a:r>
                      <a:endParaRPr lang="en-US" sz="1200" dirty="0">
                        <a:latin typeface="Courier New" charset="0"/>
                        <a:ea typeface="Courier New" charset="0"/>
                        <a:cs typeface="Courier New" charset="0"/>
                      </a:endParaRPr>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Model for audit answers</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r h="0">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REAUDIT_INTERVAL_HOURS</a:t>
                      </a:r>
                      <a:endParaRPr lang="en-US" sz="1200" dirty="0">
                        <a:latin typeface="Courier New" charset="0"/>
                        <a:ea typeface="Courier New" charset="0"/>
                        <a:cs typeface="Courier New" charset="0"/>
                      </a:endParaRPr>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Re-audit on a schedule (0 is off)</a:t>
                      </a:r>
                      <a:endParaRPr lang="en-US" sz="1400" dirty="0"/>
                    </a:p>
                  </a:txBody>
                  <a:tcPr marL="91440" marR="91440" marT="64008" marB="64008" anchor="ctr">
                    <a:lnL w="12700" cap="flat" cmpd="sng" algn="ctr">
                      <a:solidFill>
                        <a:srgbClr val="D2D9DF"/>
                      </a:solidFill>
                      <a:prstDash val="solid"/>
                      <a:round/>
                      <a:headEnd type="none" w="med" len="med"/>
                      <a:tailEnd type="none" w="med" len="med"/>
                    </a:lnL>
                    <a:lnR w="12700" cap="flat" cmpd="sng" algn="ctr">
                      <a:solidFill>
                        <a:srgbClr val="D2D9DF"/>
                      </a:solidFill>
                      <a:prstDash val="solid"/>
                      <a:round/>
                      <a:headEnd type="none" w="med" len="med"/>
                      <a:tailEnd type="none" w="med" len="med"/>
                    </a:lnR>
                    <a:lnT w="12700" cap="flat" cmpd="sng" algn="ctr">
                      <a:solidFill>
                        <a:srgbClr val="D2D9DF"/>
                      </a:solidFill>
                      <a:prstDash val="solid"/>
                      <a:round/>
                      <a:headEnd type="none" w="med" len="med"/>
                      <a:tailEnd type="none" w="med" len="med"/>
                    </a:lnT>
                    <a:lnB w="12700" cap="flat" cmpd="sng" algn="ctr">
                      <a:solidFill>
                        <a:srgbClr val="D2D9DF"/>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bg1"/>
                </a:solidFill>
              </a:rPr>
              <a:t>A five-minute walkthrough</a:t>
            </a:r>
            <a:endParaRPr lang="en-US" sz="3600" dirty="0"/>
          </a:p>
        </p:txBody>
      </p:sp>
      <p:sp>
        <p:nvSpPr>
          <p:cNvPr id="3" name="Step 1 card"/>
          <p:cNvSpPr/>
          <p:nvPr/>
        </p:nvSpPr>
        <p:spPr>
          <a:xfrm>
            <a:off x="548640" y="1600200"/>
            <a:ext cx="3566160" cy="2148840"/>
          </a:xfrm>
          <a:prstGeom prst="roundRect">
            <a:avLst>
              <a:gd name="adj" fmla="val 3404"/>
            </a:avLst>
          </a:prstGeom>
          <a:solidFill>
            <a:schemeClr val="tx2"/>
          </a:solidFill>
          <a:ln/>
        </p:spPr>
      </p:sp>
      <p:sp>
        <p:nvSpPr>
          <p:cNvPr id="4" name="Number 1"/>
          <p:cNvSpPr txBox="1"/>
          <p:nvPr/>
        </p:nvSpPr>
        <p:spPr>
          <a:xfrm>
            <a:off x="822960" y="187452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Step 1 title"/>
          <p:cNvSpPr txBox="1"/>
          <p:nvPr/>
        </p:nvSpPr>
        <p:spPr>
          <a:xfrm>
            <a:off x="1463040" y="1874520"/>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Open Sidra</a:t>
            </a:r>
            <a:endParaRPr lang="en-US" sz="2000" dirty="0"/>
          </a:p>
        </p:txBody>
      </p:sp>
      <p:sp>
        <p:nvSpPr>
          <p:cNvPr id="6" name="Step 1 text"/>
          <p:cNvSpPr txBox="1"/>
          <p:nvPr/>
        </p:nvSpPr>
        <p:spPr>
          <a:xfrm>
            <a:off x="822960" y="2514600"/>
            <a:ext cx="3017520" cy="1051560"/>
          </a:xfrm>
          <a:prstGeom prst="rect">
            <a:avLst/>
          </a:prstGeom>
          <a:noFill/>
          <a:ln/>
        </p:spPr>
        <p:txBody>
          <a:bodyPr wrap="square" lIns="0" tIns="0" rIns="0" bIns="0" rtlCol="0" anchor="t"/>
          <a:lstStyle/>
          <a:p>
            <a:pPr indent="0" marL="0">
              <a:buNone/>
            </a:pPr>
            <a:r>
              <a:rPr lang="en-US" sz="1500" dirty="0">
                <a:solidFill>
                  <a:schemeClr val="accent4"/>
                </a:solidFill>
              </a:rPr>
              <a:t>Select Sidra Coffee Roasters. Note the score: 9%, with wrong hours in some answers.</a:t>
            </a:r>
            <a:endParaRPr lang="en-US" sz="1500" dirty="0"/>
          </a:p>
        </p:txBody>
      </p:sp>
      <p:sp>
        <p:nvSpPr>
          <p:cNvPr id="7" name="Step 2 card"/>
          <p:cNvSpPr/>
          <p:nvPr/>
        </p:nvSpPr>
        <p:spPr>
          <a:xfrm>
            <a:off x="4312768" y="1600200"/>
            <a:ext cx="3566160" cy="2148840"/>
          </a:xfrm>
          <a:prstGeom prst="roundRect">
            <a:avLst>
              <a:gd name="adj" fmla="val 3404"/>
            </a:avLst>
          </a:prstGeom>
          <a:solidFill>
            <a:schemeClr val="tx2"/>
          </a:solidFill>
          <a:ln/>
        </p:spPr>
      </p:sp>
      <p:sp>
        <p:nvSpPr>
          <p:cNvPr id="8" name="Number 2"/>
          <p:cNvSpPr txBox="1"/>
          <p:nvPr/>
        </p:nvSpPr>
        <p:spPr>
          <a:xfrm>
            <a:off x="4587088" y="187452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9" name="Step 2 title"/>
          <p:cNvSpPr txBox="1"/>
          <p:nvPr/>
        </p:nvSpPr>
        <p:spPr>
          <a:xfrm>
            <a:off x="5227168" y="1874520"/>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Open a mark</a:t>
            </a:r>
            <a:endParaRPr lang="en-US" sz="2000" dirty="0"/>
          </a:p>
        </p:txBody>
      </p:sp>
      <p:sp>
        <p:nvSpPr>
          <p:cNvPr id="10" name="Step 2 text"/>
          <p:cNvSpPr txBox="1"/>
          <p:nvPr/>
        </p:nvSpPr>
        <p:spPr>
          <a:xfrm>
            <a:off x="4587088" y="2514600"/>
            <a:ext cx="3017520" cy="1051560"/>
          </a:xfrm>
          <a:prstGeom prst="rect">
            <a:avLst/>
          </a:prstGeom>
          <a:noFill/>
          <a:ln/>
        </p:spPr>
        <p:txBody>
          <a:bodyPr wrap="square" lIns="0" tIns="0" rIns="0" bIns="0" rtlCol="0" anchor="t"/>
          <a:lstStyle/>
          <a:p>
            <a:pPr indent="0" marL="0">
              <a:buNone/>
            </a:pPr>
            <a:r>
              <a:rPr lang="en-US" sz="1500" dirty="0">
                <a:solidFill>
                  <a:schemeClr val="accent4"/>
                </a:solidFill>
              </a:rPr>
              <a:t>In section 01, open a pink mark with a blue ring to read an answer with the wrong hours.</a:t>
            </a:r>
            <a:endParaRPr lang="en-US" sz="1500" dirty="0"/>
          </a:p>
        </p:txBody>
      </p:sp>
      <p:sp>
        <p:nvSpPr>
          <p:cNvPr id="11" name="Step 3 card"/>
          <p:cNvSpPr/>
          <p:nvPr/>
        </p:nvSpPr>
        <p:spPr>
          <a:xfrm>
            <a:off x="8076895" y="1600200"/>
            <a:ext cx="3566160" cy="2148840"/>
          </a:xfrm>
          <a:prstGeom prst="roundRect">
            <a:avLst>
              <a:gd name="adj" fmla="val 3404"/>
            </a:avLst>
          </a:prstGeom>
          <a:solidFill>
            <a:schemeClr val="tx2"/>
          </a:solidFill>
          <a:ln/>
        </p:spPr>
      </p:sp>
      <p:sp>
        <p:nvSpPr>
          <p:cNvPr id="12" name="Number 3"/>
          <p:cNvSpPr txBox="1"/>
          <p:nvPr/>
        </p:nvSpPr>
        <p:spPr>
          <a:xfrm>
            <a:off x="8351215" y="187452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Step 3 title"/>
          <p:cNvSpPr txBox="1"/>
          <p:nvPr/>
        </p:nvSpPr>
        <p:spPr>
          <a:xfrm>
            <a:off x="8991295" y="1874520"/>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Fix it</a:t>
            </a:r>
            <a:endParaRPr lang="en-US" sz="2000" dirty="0"/>
          </a:p>
        </p:txBody>
      </p:sp>
      <p:sp>
        <p:nvSpPr>
          <p:cNvPr id="14" name="Step 3 text"/>
          <p:cNvSpPr txBox="1"/>
          <p:nvPr/>
        </p:nvSpPr>
        <p:spPr>
          <a:xfrm>
            <a:off x="8351215" y="2514600"/>
            <a:ext cx="3017520" cy="1051560"/>
          </a:xfrm>
          <a:prstGeom prst="rect">
            <a:avLst/>
          </a:prstGeom>
          <a:noFill/>
          <a:ln/>
        </p:spPr>
        <p:txBody>
          <a:bodyPr wrap="square" lIns="0" tIns="0" rIns="0" bIns="0" rtlCol="0" anchor="t"/>
          <a:lstStyle/>
          <a:p>
            <a:pPr indent="0" marL="0">
              <a:buNone/>
            </a:pPr>
            <a:r>
              <a:rPr lang="en-US" sz="1500" dirty="0">
                <a:solidFill>
                  <a:schemeClr val="accent4"/>
                </a:solidFill>
              </a:rPr>
              <a:t>In section 03, press the three buttons in order. Items are struck through.</a:t>
            </a:r>
            <a:endParaRPr lang="en-US" sz="1500" dirty="0"/>
          </a:p>
        </p:txBody>
      </p:sp>
      <p:sp>
        <p:nvSpPr>
          <p:cNvPr id="15" name="Step 4 card"/>
          <p:cNvSpPr/>
          <p:nvPr/>
        </p:nvSpPr>
        <p:spPr>
          <a:xfrm>
            <a:off x="548640" y="3977640"/>
            <a:ext cx="3566160" cy="2148840"/>
          </a:xfrm>
          <a:prstGeom prst="roundRect">
            <a:avLst>
              <a:gd name="adj" fmla="val 3404"/>
            </a:avLst>
          </a:prstGeom>
          <a:solidFill>
            <a:schemeClr val="tx2"/>
          </a:solidFill>
          <a:ln/>
        </p:spPr>
      </p:sp>
      <p:sp>
        <p:nvSpPr>
          <p:cNvPr id="16" name="Number 4"/>
          <p:cNvSpPr txBox="1"/>
          <p:nvPr/>
        </p:nvSpPr>
        <p:spPr>
          <a:xfrm>
            <a:off x="822960" y="425196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7" name="Step 4 title"/>
          <p:cNvSpPr txBox="1"/>
          <p:nvPr/>
        </p:nvSpPr>
        <p:spPr>
          <a:xfrm>
            <a:off x="1463040" y="4251960"/>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Send an agent</a:t>
            </a:r>
            <a:endParaRPr lang="en-US" sz="2000" dirty="0"/>
          </a:p>
        </p:txBody>
      </p:sp>
      <p:sp>
        <p:nvSpPr>
          <p:cNvPr id="18" name="Step 4 text"/>
          <p:cNvSpPr txBox="1"/>
          <p:nvPr/>
        </p:nvSpPr>
        <p:spPr>
          <a:xfrm>
            <a:off x="822960" y="4892040"/>
            <a:ext cx="3017520" cy="1051560"/>
          </a:xfrm>
          <a:prstGeom prst="rect">
            <a:avLst/>
          </a:prstGeom>
          <a:noFill/>
          <a:ln/>
        </p:spPr>
        <p:txBody>
          <a:bodyPr wrap="square" lIns="0" tIns="0" rIns="0" bIns="0" rtlCol="0" anchor="t"/>
          <a:lstStyle/>
          <a:p>
            <a:pPr indent="0" marL="0">
              <a:buNone/>
            </a:pPr>
            <a:r>
              <a:rPr lang="en-US" sz="1500" dirty="0">
                <a:solidFill>
                  <a:schemeClr val="accent4"/>
                </a:solidFill>
              </a:rPr>
              <a:t>In section 04, press Send the agent. Watch it check the signature and read the hours.</a:t>
            </a:r>
            <a:endParaRPr lang="en-US" sz="1500" dirty="0"/>
          </a:p>
        </p:txBody>
      </p:sp>
      <p:sp>
        <p:nvSpPr>
          <p:cNvPr id="19" name="Step 5 card"/>
          <p:cNvSpPr/>
          <p:nvPr/>
        </p:nvSpPr>
        <p:spPr>
          <a:xfrm>
            <a:off x="4312768" y="3977640"/>
            <a:ext cx="3566160" cy="2148840"/>
          </a:xfrm>
          <a:prstGeom prst="roundRect">
            <a:avLst>
              <a:gd name="adj" fmla="val 3404"/>
            </a:avLst>
          </a:prstGeom>
          <a:solidFill>
            <a:schemeClr val="tx2"/>
          </a:solidFill>
          <a:ln/>
        </p:spPr>
      </p:sp>
      <p:sp>
        <p:nvSpPr>
          <p:cNvPr id="20" name="Number 5"/>
          <p:cNvSpPr txBox="1"/>
          <p:nvPr/>
        </p:nvSpPr>
        <p:spPr>
          <a:xfrm>
            <a:off x="4587088" y="425196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21" name="Step 5 title"/>
          <p:cNvSpPr txBox="1"/>
          <p:nvPr/>
        </p:nvSpPr>
        <p:spPr>
          <a:xfrm>
            <a:off x="5227168" y="4251960"/>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Ask again</a:t>
            </a:r>
            <a:endParaRPr lang="en-US" sz="2000" dirty="0"/>
          </a:p>
        </p:txBody>
      </p:sp>
      <p:sp>
        <p:nvSpPr>
          <p:cNvPr id="22" name="Step 5 text"/>
          <p:cNvSpPr txBox="1"/>
          <p:nvPr/>
        </p:nvSpPr>
        <p:spPr>
          <a:xfrm>
            <a:off x="4587088" y="4892040"/>
            <a:ext cx="3017520" cy="1051560"/>
          </a:xfrm>
          <a:prstGeom prst="rect">
            <a:avLst/>
          </a:prstGeom>
          <a:noFill/>
          <a:ln/>
        </p:spPr>
        <p:txBody>
          <a:bodyPr wrap="square" lIns="0" tIns="0" rIns="0" bIns="0" rtlCol="0" anchor="t"/>
          <a:lstStyle/>
          <a:p>
            <a:pPr indent="0" marL="0">
              <a:buNone/>
            </a:pPr>
            <a:r>
              <a:rPr lang="en-US" sz="1500" dirty="0">
                <a:solidFill>
                  <a:schemeClr val="accent4"/>
                </a:solidFill>
              </a:rPr>
              <a:t>Scroll up and press Ask the assistants again. The score rises to about 56%.</a:t>
            </a:r>
            <a:endParaRPr lang="en-US" sz="1500" dirty="0"/>
          </a:p>
        </p:txBody>
      </p:sp>
      <p:sp>
        <p:nvSpPr>
          <p:cNvPr id="23" name="Step 6 card"/>
          <p:cNvSpPr/>
          <p:nvPr/>
        </p:nvSpPr>
        <p:spPr>
          <a:xfrm>
            <a:off x="8076895" y="3977640"/>
            <a:ext cx="3566160" cy="2148840"/>
          </a:xfrm>
          <a:prstGeom prst="roundRect">
            <a:avLst>
              <a:gd name="adj" fmla="val 3404"/>
            </a:avLst>
          </a:prstGeom>
          <a:solidFill>
            <a:schemeClr val="tx2"/>
          </a:solidFill>
          <a:ln/>
        </p:spPr>
      </p:sp>
      <p:sp>
        <p:nvSpPr>
          <p:cNvPr id="24" name="Number 6"/>
          <p:cNvSpPr txBox="1"/>
          <p:nvPr/>
        </p:nvSpPr>
        <p:spPr>
          <a:xfrm>
            <a:off x="8351215" y="4251960"/>
            <a:ext cx="457200" cy="457200"/>
          </a:xfrm>
          <a:prstGeom prst="ellipse">
            <a:avLst/>
          </a:prstGeom>
          <a:solidFill>
            <a:schemeClr val="accent1"/>
          </a:solid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25" name="Step 6 title"/>
          <p:cNvSpPr txBox="1"/>
          <p:nvPr/>
        </p:nvSpPr>
        <p:spPr>
          <a:xfrm>
            <a:off x="8991295" y="4251960"/>
            <a:ext cx="2377440" cy="457200"/>
          </a:xfrm>
          <a:prstGeom prst="rect">
            <a:avLst/>
          </a:prstGeom>
          <a:noFill/>
          <a:ln/>
        </p:spPr>
        <p:txBody>
          <a:bodyPr wrap="square" lIns="0" tIns="0" rIns="0" bIns="0" rtlCol="0" anchor="ctr"/>
          <a:lstStyle/>
          <a:p>
            <a:pPr indent="0" marL="0">
              <a:buNone/>
            </a:pPr>
            <a:r>
              <a:rPr lang="en-US" sz="2000" b="1" dirty="0">
                <a:solidFill>
                  <a:schemeClr val="bg1"/>
                </a:solidFill>
              </a:rPr>
              <a:t>Check the gate</a:t>
            </a:r>
            <a:endParaRPr lang="en-US" sz="2000" dirty="0"/>
          </a:p>
        </p:txBody>
      </p:sp>
      <p:sp>
        <p:nvSpPr>
          <p:cNvPr id="26" name="Step 6 text"/>
          <p:cNvSpPr txBox="1"/>
          <p:nvPr/>
        </p:nvSpPr>
        <p:spPr>
          <a:xfrm>
            <a:off x="8351215" y="4892040"/>
            <a:ext cx="3017520" cy="1051560"/>
          </a:xfrm>
          <a:prstGeom prst="rect">
            <a:avLst/>
          </a:prstGeom>
          <a:noFill/>
          <a:ln/>
        </p:spPr>
        <p:txBody>
          <a:bodyPr wrap="square" lIns="0" tIns="0" rIns="0" bIns="0" rtlCol="0" anchor="t"/>
          <a:lstStyle/>
          <a:p>
            <a:pPr indent="0" marL="0">
              <a:buNone/>
            </a:pPr>
            <a:r>
              <a:rPr lang="en-US" sz="1500" dirty="0">
                <a:solidFill>
                  <a:schemeClr val="accent4"/>
                </a:solidFill>
              </a:rPr>
              <a:t>Open District Report. The gate flips from not met to met.</a:t>
            </a:r>
            <a:endParaRPr lang="en-US" sz="15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22960"/>
          </a:xfrm>
          <a:prstGeom prst="rect">
            <a:avLst/>
          </a:prstGeom>
          <a:noFill/>
          <a:ln/>
        </p:spPr>
        <p:txBody>
          <a:bodyPr wrap="square" lIns="0" tIns="0" rIns="0" bIns="0" rtlCol="0" anchor="ctr"/>
          <a:lstStyle/>
          <a:p>
            <a:pPr algn="l" indent="0" marL="0">
              <a:buNone/>
            </a:pPr>
            <a:r>
              <a:rPr lang="en-US" sz="3600" b="1" dirty="0">
                <a:solidFill>
                  <a:schemeClr val="tx1"/>
                </a:solidFill>
              </a:rPr>
              <a:t>Troubleshooting and limits</a:t>
            </a:r>
            <a:endParaRPr lang="en-US" sz="3600" dirty="0"/>
          </a:p>
        </p:txBody>
      </p:sp>
      <p:sp>
        <p:nvSpPr>
          <p:cNvPr id="3" name="If something looks off card"/>
          <p:cNvSpPr/>
          <p:nvPr/>
        </p:nvSpPr>
        <p:spPr>
          <a:xfrm>
            <a:off x="548640" y="1600200"/>
            <a:ext cx="5394960" cy="4526280"/>
          </a:xfrm>
          <a:prstGeom prst="roundRect">
            <a:avLst>
              <a:gd name="adj" fmla="val 1616"/>
            </a:avLst>
          </a:prstGeom>
          <a:solidFill>
            <a:schemeClr val="bg1"/>
          </a:solidFill>
          <a:ln w="9525">
            <a:solidFill>
              <a:srgbClr val="D2D9DF"/>
            </a:solidFill>
            <a:prstDash val="solid"/>
          </a:ln>
        </p:spPr>
      </p:sp>
      <p:sp>
        <p:nvSpPr>
          <p:cNvPr id="4" name="If something looks off circle"/>
          <p:cNvSpPr/>
          <p:nvPr/>
        </p:nvSpPr>
        <p:spPr>
          <a:xfrm>
            <a:off x="868680" y="1874520"/>
            <a:ext cx="548640" cy="548640"/>
          </a:xfrm>
          <a:prstGeom prst="ellipse">
            <a:avLst/>
          </a:prstGeom>
          <a:solidFill>
            <a:schemeClr val="accent1"/>
          </a:solidFill>
          <a:ln/>
        </p:spPr>
      </p:sp>
      <p:pic>
        <p:nvPicPr>
          <p:cNvPr id="5" name="If something looks off" descr="If something looks off">    </p:cNvPr>
          <p:cNvPicPr>
            <a:picLocks noChangeAspect="1"/>
          </p:cNvPicPr>
          <p:nvPr/>
        </p:nvPicPr>
        <p:blipFill>
          <a:blip r:embed="rId1"/>
          <a:stretch>
            <a:fillRect/>
          </a:stretch>
        </p:blipFill>
        <p:spPr>
          <a:xfrm>
            <a:off x="1016813" y="2022653"/>
            <a:ext cx="252374" cy="252374"/>
          </a:xfrm>
          <a:prstGeom prst="rect">
            <a:avLst/>
          </a:prstGeom>
        </p:spPr>
      </p:pic>
      <p:sp>
        <p:nvSpPr>
          <p:cNvPr id="6" name="If something looks off title"/>
          <p:cNvSpPr txBox="1"/>
          <p:nvPr/>
        </p:nvSpPr>
        <p:spPr>
          <a:xfrm>
            <a:off x="1600200" y="1874520"/>
            <a:ext cx="4023360" cy="548640"/>
          </a:xfrm>
          <a:prstGeom prst="rect">
            <a:avLst/>
          </a:prstGeom>
          <a:noFill/>
          <a:ln/>
        </p:spPr>
        <p:txBody>
          <a:bodyPr wrap="square" lIns="0" tIns="0" rIns="0" bIns="0" rtlCol="0" anchor="ctr"/>
          <a:lstStyle/>
          <a:p>
            <a:pPr indent="0" marL="0">
              <a:buNone/>
            </a:pPr>
            <a:r>
              <a:rPr lang="en-US" sz="2200" b="1" dirty="0">
                <a:solidFill>
                  <a:schemeClr val="tx1"/>
                </a:solidFill>
              </a:rPr>
              <a:t>If something looks off</a:t>
            </a:r>
            <a:endParaRPr lang="en-US" sz="2200" dirty="0"/>
          </a:p>
        </p:txBody>
      </p:sp>
      <p:sp>
        <p:nvSpPr>
          <p:cNvPr id="7" name="Guide text"/>
          <p:cNvSpPr txBox="1"/>
          <p:nvPr/>
        </p:nvSpPr>
        <p:spPr>
          <a:xfrm>
            <a:off x="868680" y="2651760"/>
            <a:ext cx="4754880" cy="3337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The score did not change</a:t>
            </a:r>
            <a:endParaRPr lang="en-US" sz="1700" dirty="0"/>
          </a:p>
          <a:p>
            <a:pPr indent="0" marL="0">
              <a:spcAft>
                <a:spcPts val="1400"/>
              </a:spcAft>
              <a:buNone/>
            </a:pPr>
            <a:r>
              <a:rPr lang="en-US" sz="1500" dirty="0">
                <a:solidFill>
                  <a:schemeClr val="accent3"/>
                </a:solidFill>
              </a:rPr>
              <a:t>Press Ask the assistants again. Fixes only show in a new audit.</a:t>
            </a:r>
            <a:endParaRPr lang="en-US" sz="1700" dirty="0"/>
          </a:p>
          <a:p>
            <a:pPr indent="0" marL="0">
              <a:spcAft>
                <a:spcPts val="200"/>
              </a:spcAft>
              <a:buNone/>
            </a:pPr>
            <a:r>
              <a:rPr lang="en-US" sz="1700" b="1" dirty="0">
                <a:solidFill>
                  <a:schemeClr val="tx1"/>
                </a:solidFill>
              </a:rPr>
              <a:t>The agent finds no card</a:t>
            </a:r>
            <a:endParaRPr lang="en-US" sz="1700" dirty="0"/>
          </a:p>
          <a:p>
            <a:pPr indent="0" marL="0">
              <a:spcAft>
                <a:spcPts val="1400"/>
              </a:spcAft>
              <a:buNone/>
            </a:pPr>
            <a:r>
              <a:rPr lang="en-US" sz="1500" dirty="0">
                <a:solidFill>
                  <a:schemeClr val="accent3"/>
                </a:solidFill>
              </a:rPr>
              <a:t>Press Publish for agents in section 03 first.</a:t>
            </a:r>
            <a:endParaRPr lang="en-US" sz="1700" dirty="0"/>
          </a:p>
          <a:p>
            <a:pPr indent="0" marL="0">
              <a:spcAft>
                <a:spcPts val="200"/>
              </a:spcAft>
              <a:buNone/>
            </a:pPr>
            <a:r>
              <a:rPr lang="en-US" sz="1700" b="1" dirty="0">
                <a:solidFill>
                  <a:schemeClr val="tx1"/>
                </a:solidFill>
              </a:rPr>
              <a:t>My changes disappeared</a:t>
            </a:r>
            <a:endParaRPr lang="en-US" sz="1700" dirty="0"/>
          </a:p>
          <a:p>
            <a:pPr indent="0" marL="0">
              <a:spcAft>
                <a:spcPts val="1400"/>
              </a:spcAft>
              <a:buNone/>
            </a:pPr>
            <a:r>
              <a:rPr lang="en-US" sz="1500" dirty="0">
                <a:solidFill>
                  <a:schemeClr val="accent3"/>
                </a:solidFill>
              </a:rPr>
              <a:t>In the static edition, state lives in one browser. Clearing site data starts fresh.</a:t>
            </a:r>
            <a:endParaRPr lang="en-US" sz="1700" dirty="0"/>
          </a:p>
          <a:p>
            <a:pPr indent="0" marL="0">
              <a:spcAft>
                <a:spcPts val="200"/>
              </a:spcAft>
              <a:buNone/>
            </a:pPr>
            <a:r>
              <a:rPr lang="en-US" sz="1700" b="1" dirty="0">
                <a:solidFill>
                  <a:schemeClr val="tx1"/>
                </a:solidFill>
              </a:rPr>
              <a:t>I want the starting numbers back</a:t>
            </a:r>
            <a:endParaRPr lang="en-US" sz="1700" dirty="0"/>
          </a:p>
          <a:p>
            <a:pPr indent="0" marL="0">
              <a:buNone/>
            </a:pPr>
            <a:r>
              <a:rPr lang="en-US" sz="1500" dirty="0">
                <a:solidFill>
                  <a:schemeClr val="accent3"/>
                </a:solidFill>
              </a:rPr>
              <a:t>Use Reset the demo in the page footer.</a:t>
            </a:r>
            <a:endParaRPr lang="en-US" sz="1700" dirty="0"/>
          </a:p>
        </p:txBody>
      </p:sp>
      <p:sp>
        <p:nvSpPr>
          <p:cNvPr id="8" name="Known limits card"/>
          <p:cNvSpPr/>
          <p:nvPr/>
        </p:nvSpPr>
        <p:spPr>
          <a:xfrm>
            <a:off x="6248095" y="1600200"/>
            <a:ext cx="5394960" cy="4526280"/>
          </a:xfrm>
          <a:prstGeom prst="roundRect">
            <a:avLst>
              <a:gd name="adj" fmla="val 1616"/>
            </a:avLst>
          </a:prstGeom>
          <a:solidFill>
            <a:schemeClr val="bg1"/>
          </a:solidFill>
          <a:ln w="9525">
            <a:solidFill>
              <a:srgbClr val="D2D9DF"/>
            </a:solidFill>
            <a:prstDash val="solid"/>
          </a:ln>
        </p:spPr>
      </p:sp>
      <p:sp>
        <p:nvSpPr>
          <p:cNvPr id="9" name="Known limits circle"/>
          <p:cNvSpPr/>
          <p:nvPr/>
        </p:nvSpPr>
        <p:spPr>
          <a:xfrm>
            <a:off x="6568135" y="1874520"/>
            <a:ext cx="548640" cy="548640"/>
          </a:xfrm>
          <a:prstGeom prst="ellipse">
            <a:avLst/>
          </a:prstGeom>
          <a:solidFill>
            <a:schemeClr val="accent1"/>
          </a:solidFill>
          <a:ln/>
        </p:spPr>
      </p:sp>
      <p:pic>
        <p:nvPicPr>
          <p:cNvPr id="10" name="Known limits" descr="Known limits">    </p:cNvPr>
          <p:cNvPicPr>
            <a:picLocks noChangeAspect="1"/>
          </p:cNvPicPr>
          <p:nvPr/>
        </p:nvPicPr>
        <p:blipFill>
          <a:blip r:embed="rId2"/>
          <a:stretch>
            <a:fillRect/>
          </a:stretch>
        </p:blipFill>
        <p:spPr>
          <a:xfrm>
            <a:off x="6716268" y="2022653"/>
            <a:ext cx="252374" cy="252374"/>
          </a:xfrm>
          <a:prstGeom prst="rect">
            <a:avLst/>
          </a:prstGeom>
        </p:spPr>
      </p:pic>
      <p:sp>
        <p:nvSpPr>
          <p:cNvPr id="11" name="Known limits title"/>
          <p:cNvSpPr txBox="1"/>
          <p:nvPr/>
        </p:nvSpPr>
        <p:spPr>
          <a:xfrm>
            <a:off x="7299655" y="1874520"/>
            <a:ext cx="4023360" cy="548640"/>
          </a:xfrm>
          <a:prstGeom prst="rect">
            <a:avLst/>
          </a:prstGeom>
          <a:noFill/>
          <a:ln/>
        </p:spPr>
        <p:txBody>
          <a:bodyPr wrap="square" lIns="0" tIns="0" rIns="0" bIns="0" rtlCol="0" anchor="ctr"/>
          <a:lstStyle/>
          <a:p>
            <a:pPr indent="0" marL="0">
              <a:buNone/>
            </a:pPr>
            <a:r>
              <a:rPr lang="en-US" sz="2200" b="1" dirty="0">
                <a:solidFill>
                  <a:schemeClr val="tx1"/>
                </a:solidFill>
              </a:rPr>
              <a:t>Known limits</a:t>
            </a:r>
            <a:endParaRPr lang="en-US" sz="2200" dirty="0"/>
          </a:p>
        </p:txBody>
      </p:sp>
      <p:sp>
        <p:nvSpPr>
          <p:cNvPr id="12" name="Guide text"/>
          <p:cNvSpPr txBox="1"/>
          <p:nvPr/>
        </p:nvSpPr>
        <p:spPr>
          <a:xfrm>
            <a:off x="6568135" y="2651760"/>
            <a:ext cx="4754880" cy="3337560"/>
          </a:xfrm>
          <a:prstGeom prst="rect">
            <a:avLst/>
          </a:prstGeom>
          <a:noFill/>
          <a:ln/>
        </p:spPr>
        <p:txBody>
          <a:bodyPr wrap="square" lIns="0" tIns="0" rIns="0" bIns="0" rtlCol="0" anchor="t"/>
          <a:lstStyle/>
          <a:p>
            <a:pPr indent="0" marL="0">
              <a:spcAft>
                <a:spcPts val="200"/>
              </a:spcAft>
              <a:buNone/>
            </a:pPr>
            <a:r>
              <a:rPr lang="en-US" sz="1700" b="1" dirty="0">
                <a:solidFill>
                  <a:schemeClr val="tx1"/>
                </a:solidFill>
              </a:rPr>
              <a:t>Assistants are simulated</a:t>
            </a:r>
            <a:endParaRPr lang="en-US" sz="1700" dirty="0"/>
          </a:p>
          <a:p>
            <a:pPr indent="0" marL="0">
              <a:spcAft>
                <a:spcPts val="1400"/>
              </a:spcAft>
              <a:buNone/>
            </a:pPr>
            <a:r>
              <a:rPr lang="en-US" sz="1500" dirty="0">
                <a:solidFill>
                  <a:schemeClr val="accent3"/>
                </a:solidFill>
              </a:rPr>
              <a:t>Unless you run the server with an API key.</a:t>
            </a:r>
            <a:endParaRPr lang="en-US" sz="1700" dirty="0"/>
          </a:p>
          <a:p>
            <a:pPr indent="0" marL="0">
              <a:spcAft>
                <a:spcPts val="200"/>
              </a:spcAft>
              <a:buNone/>
            </a:pPr>
            <a:r>
              <a:rPr lang="en-US" sz="1700" b="1" dirty="0">
                <a:solidFill>
                  <a:schemeClr val="tx1"/>
                </a:solidFill>
              </a:rPr>
              <a:t>Listing fixes and new reviews</a:t>
            </a:r>
            <a:endParaRPr lang="en-US" sz="1700" dirty="0"/>
          </a:p>
          <a:p>
            <a:pPr indent="0" marL="0">
              <a:spcAft>
                <a:spcPts val="1400"/>
              </a:spcAft>
              <a:buNone/>
            </a:pPr>
            <a:r>
              <a:rPr lang="en-US" sz="1500" dirty="0">
                <a:solidFill>
                  <a:schemeClr val="accent3"/>
                </a:solidFill>
              </a:rPr>
              <a:t>Simulated. No platform connection yet.</a:t>
            </a:r>
            <a:endParaRPr lang="en-US" sz="1700" dirty="0"/>
          </a:p>
          <a:p>
            <a:pPr indent="0" marL="0">
              <a:spcAft>
                <a:spcPts val="200"/>
              </a:spcAft>
              <a:buNone/>
            </a:pPr>
            <a:r>
              <a:rPr lang="en-US" sz="1700" b="1" dirty="0">
                <a:solidFill>
                  <a:schemeClr val="tx1"/>
                </a:solidFill>
              </a:rPr>
              <a:t>Business facts</a:t>
            </a:r>
            <a:endParaRPr lang="en-US" sz="1700" dirty="0"/>
          </a:p>
          <a:p>
            <a:pPr indent="0" marL="0">
              <a:spcAft>
                <a:spcPts val="1400"/>
              </a:spcAft>
              <a:buNone/>
            </a:pPr>
            <a:r>
              <a:rPr lang="en-US" sz="1500" dirty="0">
                <a:solidFill>
                  <a:schemeClr val="accent3"/>
                </a:solidFill>
              </a:rPr>
              <a:t>Entered by hand. The pilot will pull them from websites and Google.</a:t>
            </a:r>
            <a:endParaRPr lang="en-US" sz="1700" dirty="0"/>
          </a:p>
          <a:p>
            <a:pPr indent="0" marL="0">
              <a:spcAft>
                <a:spcPts val="200"/>
              </a:spcAft>
              <a:buNone/>
            </a:pPr>
            <a:r>
              <a:rPr lang="en-US" sz="1700" b="1" dirty="0">
                <a:solidFill>
                  <a:schemeClr val="tx1"/>
                </a:solidFill>
              </a:rPr>
              <a:t>Fonts</a:t>
            </a:r>
            <a:endParaRPr lang="en-US" sz="1700" dirty="0"/>
          </a:p>
          <a:p>
            <a:pPr indent="0" marL="0">
              <a:buNone/>
            </a:pPr>
            <a:r>
              <a:rPr lang="en-US" sz="1500" dirty="0">
                <a:solidFill>
                  <a:schemeClr val="accent3"/>
                </a:solidFill>
              </a:rPr>
              <a:t>Load from Google Fonts. Offline, system fonts take over.</a:t>
            </a:r>
            <a:endParaRPr lang="en-US" sz="1700" dirty="0"/>
          </a:p>
        </p:txBody>
      </p:sp>
      <p:sp>
        <p:nvSpPr>
          <p:cNvPr id="25" name="Slide Number Placeholder 0"/>
          <p:cNvSpPr>
            <a:spLocks noGrp="1"/>
          </p:cNvSpPr>
          <p:nvPr>
            <p:ph type="sldNum" sz="quarter" idx="4294967295"/>
          </p:nvPr>
        </p:nvSpPr>
        <p:spPr>
          <a:xfrm>
            <a:off x="10725912" y="6355080"/>
            <a:ext cx="9144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Answer Desk">
  <a:themeElements>
    <a:clrScheme name="Answer Desk">
      <a:dk1>
        <a:srgbClr val="0E1116"/>
      </a:dk1>
      <a:lt1>
        <a:srgbClr val="FFFFFF"/>
      </a:lt1>
      <a:dk2>
        <a:srgbClr val="1D2430"/>
      </a:dk2>
      <a:lt2>
        <a:srgbClr val="EFF2F4"/>
      </a:lt2>
      <a:accent1>
        <a:srgbClr val="FF2E88"/>
      </a:accent1>
      <a:accent2>
        <a:srgbClr val="2437D9"/>
      </a:accent2>
      <a:accent3>
        <a:srgbClr val="4A5260"/>
      </a:accent3>
      <a:accent4>
        <a:srgbClr val="D2D9DF"/>
      </a:accent4>
      <a:accent5>
        <a:srgbClr val="C2005B"/>
      </a:accent5>
      <a:accent6>
        <a:srgbClr val="858D99"/>
      </a:accent6>
      <a:hlink>
        <a:srgbClr val="2437D9"/>
      </a:hlink>
      <a:folHlink>
        <a:srgbClr val="4A5260"/>
      </a:folHlink>
    </a:clrScheme>
    <a:fontScheme name="Answer Des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Vibe Money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Answer Desk: user guide</dc:title>
  <dc:subject>PptxGenJS Presentation</dc:subject>
  <dc:creator>Vibe Money</dc:creator>
  <cp:lastModifiedBy>Vibe Money</cp:lastModifiedBy>
  <cp:revision>1</cp:revision>
  <dcterms:created xsi:type="dcterms:W3CDTF">2026-10-29T11:26:50Z</dcterms:created>
  <dcterms:modified xsi:type="dcterms:W3CDTF">2026-10-29T11:26:50Z</dcterms:modified>
</cp:coreProperties>
</file>